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Maven Pro"/>
      <p:regular r:id="rId21"/>
      <p:bold r:id="rId22"/>
    </p:embeddedFont>
    <p:embeddedFont>
      <p:font typeface="Share Tech"/>
      <p:regular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4EA2FA2-64A1-4FA9-ADD6-495AD591BCB3}">
  <a:tblStyle styleId="{64EA2FA2-64A1-4FA9-ADD6-495AD591BCB3}"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MavenPro-bold.fntdata"/><Relationship Id="rId10" Type="http://schemas.openxmlformats.org/officeDocument/2006/relationships/slide" Target="slides/slide5.xml"/><Relationship Id="rId21" Type="http://schemas.openxmlformats.org/officeDocument/2006/relationships/font" Target="fonts/MavenPro-regular.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ShareTech-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561650" y="751888"/>
            <a:ext cx="60207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solidFill>
                  <a:schemeClr val="lt1"/>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 name="Google Shape;10;p2"/>
          <p:cNvSpPr txBox="1"/>
          <p:nvPr>
            <p:ph idx="1" type="subTitle"/>
          </p:nvPr>
        </p:nvSpPr>
        <p:spPr>
          <a:xfrm>
            <a:off x="2924250" y="2804488"/>
            <a:ext cx="32955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 name="Google Shape;11;p2"/>
          <p:cNvSpPr/>
          <p:nvPr/>
        </p:nvSpPr>
        <p:spPr>
          <a:xfrm>
            <a:off x="1060456" y="1158638"/>
            <a:ext cx="121198" cy="121434"/>
          </a:xfrm>
          <a:custGeom>
            <a:rect b="b" l="l" r="r" t="t"/>
            <a:pathLst>
              <a:path extrusionOk="0" h="4634" w="4625">
                <a:moveTo>
                  <a:pt x="1" y="0"/>
                </a:moveTo>
                <a:lnTo>
                  <a:pt x="1" y="4633"/>
                </a:lnTo>
                <a:lnTo>
                  <a:pt x="4625" y="4633"/>
                </a:lnTo>
                <a:lnTo>
                  <a:pt x="4625"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
          <p:cNvSpPr/>
          <p:nvPr/>
        </p:nvSpPr>
        <p:spPr>
          <a:xfrm>
            <a:off x="7799740" y="916059"/>
            <a:ext cx="121434" cy="121434"/>
          </a:xfrm>
          <a:custGeom>
            <a:rect b="b" l="l" r="r" t="t"/>
            <a:pathLst>
              <a:path extrusionOk="0" h="4634" w="4634">
                <a:moveTo>
                  <a:pt x="0" y="1"/>
                </a:moveTo>
                <a:lnTo>
                  <a:pt x="0" y="4634"/>
                </a:lnTo>
                <a:lnTo>
                  <a:pt x="4633" y="4634"/>
                </a:lnTo>
                <a:lnTo>
                  <a:pt x="4633"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
          <p:cNvSpPr/>
          <p:nvPr/>
        </p:nvSpPr>
        <p:spPr>
          <a:xfrm>
            <a:off x="5257933" y="2452405"/>
            <a:ext cx="57599" cy="57599"/>
          </a:xfrm>
          <a:custGeom>
            <a:rect b="b" l="l" r="r" t="t"/>
            <a:pathLst>
              <a:path extrusionOk="0" fill="none" h="2198" w="2198">
                <a:moveTo>
                  <a:pt x="1" y="1"/>
                </a:moveTo>
                <a:lnTo>
                  <a:pt x="2198" y="1"/>
                </a:lnTo>
                <a:lnTo>
                  <a:pt x="2198" y="2198"/>
                </a:lnTo>
                <a:lnTo>
                  <a:pt x="1" y="2198"/>
                </a:lnTo>
                <a:close/>
              </a:path>
            </a:pathLst>
          </a:custGeom>
          <a:noFill/>
          <a:ln cap="flat" cmpd="sng" w="9525">
            <a:solidFill>
              <a:schemeClr val="accent1"/>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9525">
            <a:solidFill>
              <a:schemeClr val="accent1"/>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 name="Google Shape;17;p2"/>
          <p:cNvGrpSpPr/>
          <p:nvPr/>
        </p:nvGrpSpPr>
        <p:grpSpPr>
          <a:xfrm>
            <a:off x="8263682" y="-434366"/>
            <a:ext cx="188886" cy="1181532"/>
            <a:chOff x="2877432" y="975334"/>
            <a:chExt cx="188886" cy="1181532"/>
          </a:xfrm>
        </p:grpSpPr>
        <p:sp>
          <p:nvSpPr>
            <p:cNvPr id="18" name="Google Shape;18;p2"/>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chemeClr val="accent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2"/>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chemeClr val="accent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chemeClr val="accent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 name="Google Shape;21;p2"/>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 name="Google Shape;22;p2"/>
          <p:cNvGrpSpPr/>
          <p:nvPr/>
        </p:nvGrpSpPr>
        <p:grpSpPr>
          <a:xfrm>
            <a:off x="3090746" y="-533657"/>
            <a:ext cx="98059" cy="1147595"/>
            <a:chOff x="3347921" y="16006"/>
            <a:chExt cx="98059" cy="1147595"/>
          </a:xfrm>
        </p:grpSpPr>
        <p:sp>
          <p:nvSpPr>
            <p:cNvPr id="23" name="Google Shape;23;p2"/>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chemeClr val="accent1"/>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2"/>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 name="Google Shape;25;p2"/>
          <p:cNvGrpSpPr/>
          <p:nvPr/>
        </p:nvGrpSpPr>
        <p:grpSpPr>
          <a:xfrm>
            <a:off x="4892771" y="-340112"/>
            <a:ext cx="121172" cy="760495"/>
            <a:chOff x="5245196" y="3136513"/>
            <a:chExt cx="121172" cy="760495"/>
          </a:xfrm>
        </p:grpSpPr>
        <p:sp>
          <p:nvSpPr>
            <p:cNvPr id="26" name="Google Shape;26;p2"/>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 name="Google Shape;28;p2"/>
          <p:cNvGrpSpPr/>
          <p:nvPr/>
        </p:nvGrpSpPr>
        <p:grpSpPr>
          <a:xfrm>
            <a:off x="250617" y="2402301"/>
            <a:ext cx="188650" cy="2468355"/>
            <a:chOff x="250617" y="2402301"/>
            <a:chExt cx="188650" cy="2468355"/>
          </a:xfrm>
        </p:grpSpPr>
        <p:sp>
          <p:nvSpPr>
            <p:cNvPr id="29" name="Google Shape;29;p2"/>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chemeClr val="accent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chemeClr val="accent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chemeClr val="accent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 name="Google Shape;33;p2"/>
          <p:cNvSpPr/>
          <p:nvPr/>
        </p:nvSpPr>
        <p:spPr>
          <a:xfrm>
            <a:off x="8935726" y="10"/>
            <a:ext cx="8464" cy="2519637"/>
          </a:xfrm>
          <a:custGeom>
            <a:rect b="b" l="l" r="r" t="t"/>
            <a:pathLst>
              <a:path extrusionOk="0" h="96151" w="323">
                <a:moveTo>
                  <a:pt x="166" y="0"/>
                </a:moveTo>
                <a:lnTo>
                  <a:pt x="1" y="96150"/>
                </a:lnTo>
                <a:lnTo>
                  <a:pt x="323" y="96150"/>
                </a:lnTo>
                <a:lnTo>
                  <a:pt x="16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 name="Google Shape;35;p2"/>
          <p:cNvGrpSpPr/>
          <p:nvPr/>
        </p:nvGrpSpPr>
        <p:grpSpPr>
          <a:xfrm>
            <a:off x="2038689" y="173907"/>
            <a:ext cx="57599" cy="831799"/>
            <a:chOff x="2038689" y="173907"/>
            <a:chExt cx="57599" cy="831799"/>
          </a:xfrm>
        </p:grpSpPr>
        <p:sp>
          <p:nvSpPr>
            <p:cNvPr id="36" name="Google Shape;36;p2"/>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8" name="Shape 38"/>
        <p:cNvGrpSpPr/>
        <p:nvPr/>
      </p:nvGrpSpPr>
      <p:grpSpPr>
        <a:xfrm>
          <a:off x="0" y="0"/>
          <a:ext cx="0" cy="0"/>
          <a:chOff x="0" y="0"/>
          <a:chExt cx="0" cy="0"/>
        </a:xfrm>
      </p:grpSpPr>
      <p:sp>
        <p:nvSpPr>
          <p:cNvPr id="39" name="Google Shape;39;p3"/>
          <p:cNvSpPr txBox="1"/>
          <p:nvPr>
            <p:ph hasCustomPrompt="1" type="title"/>
          </p:nvPr>
        </p:nvSpPr>
        <p:spPr>
          <a:xfrm>
            <a:off x="1733725" y="856650"/>
            <a:ext cx="5676600" cy="1230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8000">
                <a:solidFill>
                  <a:schemeClr val="accent2"/>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0" name="Google Shape;40;p3"/>
          <p:cNvSpPr txBox="1"/>
          <p:nvPr>
            <p:ph idx="1" type="body"/>
          </p:nvPr>
        </p:nvSpPr>
        <p:spPr>
          <a:xfrm>
            <a:off x="3208075" y="2086950"/>
            <a:ext cx="2727900" cy="7155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grpSp>
        <p:nvGrpSpPr>
          <p:cNvPr id="41" name="Google Shape;41;p3"/>
          <p:cNvGrpSpPr/>
          <p:nvPr/>
        </p:nvGrpSpPr>
        <p:grpSpPr>
          <a:xfrm>
            <a:off x="722446" y="3412541"/>
            <a:ext cx="7699120" cy="1883463"/>
            <a:chOff x="4558950" y="838825"/>
            <a:chExt cx="2813800" cy="688350"/>
          </a:xfrm>
        </p:grpSpPr>
        <p:sp>
          <p:nvSpPr>
            <p:cNvPr id="42" name="Google Shape;42;p3"/>
            <p:cNvSpPr/>
            <p:nvPr/>
          </p:nvSpPr>
          <p:spPr>
            <a:xfrm>
              <a:off x="6067275" y="838825"/>
              <a:ext cx="46025" cy="39525"/>
            </a:xfrm>
            <a:custGeom>
              <a:rect b="b" l="l" r="r" t="t"/>
              <a:pathLst>
                <a:path extrusionOk="0" h="1581" w="1841">
                  <a:moveTo>
                    <a:pt x="1059" y="0"/>
                  </a:moveTo>
                  <a:cubicBezTo>
                    <a:pt x="353" y="0"/>
                    <a:pt x="1" y="857"/>
                    <a:pt x="492" y="1348"/>
                  </a:cubicBezTo>
                  <a:cubicBezTo>
                    <a:pt x="656" y="1508"/>
                    <a:pt x="856" y="1580"/>
                    <a:pt x="1051" y="1580"/>
                  </a:cubicBezTo>
                  <a:cubicBezTo>
                    <a:pt x="1456" y="1580"/>
                    <a:pt x="1840" y="1270"/>
                    <a:pt x="1840" y="794"/>
                  </a:cubicBezTo>
                  <a:cubicBezTo>
                    <a:pt x="1840" y="353"/>
                    <a:pt x="1487" y="0"/>
                    <a:pt x="105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3"/>
            <p:cNvSpPr/>
            <p:nvPr/>
          </p:nvSpPr>
          <p:spPr>
            <a:xfrm>
              <a:off x="4703850" y="911275"/>
              <a:ext cx="2580700" cy="613375"/>
            </a:xfrm>
            <a:custGeom>
              <a:rect b="b" l="l" r="r" t="t"/>
              <a:pathLst>
                <a:path extrusionOk="0" h="24535" w="103228">
                  <a:moveTo>
                    <a:pt x="47431" y="0"/>
                  </a:moveTo>
                  <a:lnTo>
                    <a:pt x="34779" y="13685"/>
                  </a:lnTo>
                  <a:lnTo>
                    <a:pt x="20906" y="18309"/>
                  </a:lnTo>
                  <a:lnTo>
                    <a:pt x="15412" y="16898"/>
                  </a:lnTo>
                  <a:lnTo>
                    <a:pt x="9061" y="9892"/>
                  </a:lnTo>
                  <a:lnTo>
                    <a:pt x="1" y="24459"/>
                  </a:lnTo>
                  <a:lnTo>
                    <a:pt x="127" y="24534"/>
                  </a:lnTo>
                  <a:lnTo>
                    <a:pt x="9086" y="10131"/>
                  </a:lnTo>
                  <a:lnTo>
                    <a:pt x="15336" y="17024"/>
                  </a:lnTo>
                  <a:lnTo>
                    <a:pt x="20893" y="18448"/>
                  </a:lnTo>
                  <a:lnTo>
                    <a:pt x="20918" y="18461"/>
                  </a:lnTo>
                  <a:lnTo>
                    <a:pt x="34855" y="13811"/>
                  </a:lnTo>
                  <a:lnTo>
                    <a:pt x="47431" y="215"/>
                  </a:lnTo>
                  <a:lnTo>
                    <a:pt x="59099" y="12778"/>
                  </a:lnTo>
                  <a:lnTo>
                    <a:pt x="67479" y="19620"/>
                  </a:lnTo>
                  <a:lnTo>
                    <a:pt x="76513" y="18196"/>
                  </a:lnTo>
                  <a:lnTo>
                    <a:pt x="82209" y="19885"/>
                  </a:lnTo>
                  <a:lnTo>
                    <a:pt x="88661" y="9035"/>
                  </a:lnTo>
                  <a:lnTo>
                    <a:pt x="95138" y="5860"/>
                  </a:lnTo>
                  <a:lnTo>
                    <a:pt x="103101" y="24496"/>
                  </a:lnTo>
                  <a:lnTo>
                    <a:pt x="103227" y="24433"/>
                  </a:lnTo>
                  <a:lnTo>
                    <a:pt x="95213" y="5671"/>
                  </a:lnTo>
                  <a:lnTo>
                    <a:pt x="88585" y="8922"/>
                  </a:lnTo>
                  <a:lnTo>
                    <a:pt x="88560" y="8934"/>
                  </a:lnTo>
                  <a:lnTo>
                    <a:pt x="82146" y="19708"/>
                  </a:lnTo>
                  <a:lnTo>
                    <a:pt x="76539" y="18057"/>
                  </a:lnTo>
                  <a:lnTo>
                    <a:pt x="76513" y="18045"/>
                  </a:lnTo>
                  <a:lnTo>
                    <a:pt x="67529" y="19469"/>
                  </a:lnTo>
                  <a:lnTo>
                    <a:pt x="59187" y="12664"/>
                  </a:lnTo>
                  <a:lnTo>
                    <a:pt x="4743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3"/>
            <p:cNvSpPr/>
            <p:nvPr/>
          </p:nvSpPr>
          <p:spPr>
            <a:xfrm>
              <a:off x="4704175" y="930800"/>
              <a:ext cx="2582575" cy="595725"/>
            </a:xfrm>
            <a:custGeom>
              <a:rect b="b" l="l" r="r" t="t"/>
              <a:pathLst>
                <a:path extrusionOk="0" h="23829" w="103303">
                  <a:moveTo>
                    <a:pt x="67125" y="1"/>
                  </a:moveTo>
                  <a:lnTo>
                    <a:pt x="58065" y="5948"/>
                  </a:lnTo>
                  <a:lnTo>
                    <a:pt x="47115" y="9817"/>
                  </a:lnTo>
                  <a:lnTo>
                    <a:pt x="41747" y="17995"/>
                  </a:lnTo>
                  <a:lnTo>
                    <a:pt x="26941" y="870"/>
                  </a:lnTo>
                  <a:lnTo>
                    <a:pt x="19822" y="13421"/>
                  </a:lnTo>
                  <a:lnTo>
                    <a:pt x="8758" y="16054"/>
                  </a:lnTo>
                  <a:lnTo>
                    <a:pt x="8733" y="16054"/>
                  </a:lnTo>
                  <a:lnTo>
                    <a:pt x="1" y="23665"/>
                  </a:lnTo>
                  <a:lnTo>
                    <a:pt x="101" y="23766"/>
                  </a:lnTo>
                  <a:lnTo>
                    <a:pt x="8809" y="16180"/>
                  </a:lnTo>
                  <a:lnTo>
                    <a:pt x="19885" y="13547"/>
                  </a:lnTo>
                  <a:lnTo>
                    <a:pt x="19910" y="13547"/>
                  </a:lnTo>
                  <a:lnTo>
                    <a:pt x="26966" y="1122"/>
                  </a:lnTo>
                  <a:lnTo>
                    <a:pt x="41697" y="18158"/>
                  </a:lnTo>
                  <a:lnTo>
                    <a:pt x="41760" y="18234"/>
                  </a:lnTo>
                  <a:lnTo>
                    <a:pt x="47203" y="9930"/>
                  </a:lnTo>
                  <a:lnTo>
                    <a:pt x="58116" y="6087"/>
                  </a:lnTo>
                  <a:lnTo>
                    <a:pt x="67088" y="190"/>
                  </a:lnTo>
                  <a:lnTo>
                    <a:pt x="73224" y="8884"/>
                  </a:lnTo>
                  <a:lnTo>
                    <a:pt x="73262" y="8935"/>
                  </a:lnTo>
                  <a:lnTo>
                    <a:pt x="81125" y="5583"/>
                  </a:lnTo>
                  <a:lnTo>
                    <a:pt x="94091" y="13408"/>
                  </a:lnTo>
                  <a:lnTo>
                    <a:pt x="103189" y="23829"/>
                  </a:lnTo>
                  <a:lnTo>
                    <a:pt x="103303" y="23728"/>
                  </a:lnTo>
                  <a:lnTo>
                    <a:pt x="94192" y="13307"/>
                  </a:lnTo>
                  <a:lnTo>
                    <a:pt x="81138" y="5419"/>
                  </a:lnTo>
                  <a:lnTo>
                    <a:pt x="73312" y="8758"/>
                  </a:lnTo>
                  <a:lnTo>
                    <a:pt x="67125"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3"/>
            <p:cNvSpPr/>
            <p:nvPr/>
          </p:nvSpPr>
          <p:spPr>
            <a:xfrm>
              <a:off x="4904225" y="1145950"/>
              <a:ext cx="46000" cy="39350"/>
            </a:xfrm>
            <a:custGeom>
              <a:rect b="b" l="l" r="r" t="t"/>
              <a:pathLst>
                <a:path extrusionOk="0" h="1574" w="1840">
                  <a:moveTo>
                    <a:pt x="1059" y="1"/>
                  </a:moveTo>
                  <a:cubicBezTo>
                    <a:pt x="353" y="1"/>
                    <a:pt x="0" y="845"/>
                    <a:pt x="504" y="1337"/>
                  </a:cubicBezTo>
                  <a:cubicBezTo>
                    <a:pt x="664" y="1501"/>
                    <a:pt x="861" y="1574"/>
                    <a:pt x="1054" y="1574"/>
                  </a:cubicBezTo>
                  <a:cubicBezTo>
                    <a:pt x="1455" y="1574"/>
                    <a:pt x="1840" y="1258"/>
                    <a:pt x="1840" y="782"/>
                  </a:cubicBezTo>
                  <a:cubicBezTo>
                    <a:pt x="1840" y="354"/>
                    <a:pt x="1487" y="1"/>
                    <a:pt x="105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3"/>
            <p:cNvSpPr/>
            <p:nvPr/>
          </p:nvSpPr>
          <p:spPr>
            <a:xfrm>
              <a:off x="5062350" y="1316075"/>
              <a:ext cx="46025" cy="39350"/>
            </a:xfrm>
            <a:custGeom>
              <a:rect b="b" l="l" r="r" t="t"/>
              <a:pathLst>
                <a:path extrusionOk="0" h="1574" w="1841">
                  <a:moveTo>
                    <a:pt x="1059" y="0"/>
                  </a:moveTo>
                  <a:cubicBezTo>
                    <a:pt x="354" y="0"/>
                    <a:pt x="1" y="845"/>
                    <a:pt x="492" y="1336"/>
                  </a:cubicBezTo>
                  <a:cubicBezTo>
                    <a:pt x="656" y="1500"/>
                    <a:pt x="856" y="1573"/>
                    <a:pt x="1051" y="1573"/>
                  </a:cubicBezTo>
                  <a:cubicBezTo>
                    <a:pt x="1456" y="1573"/>
                    <a:pt x="1841" y="1258"/>
                    <a:pt x="1841" y="782"/>
                  </a:cubicBezTo>
                  <a:cubicBezTo>
                    <a:pt x="1841" y="353"/>
                    <a:pt x="1488"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3"/>
            <p:cNvSpPr/>
            <p:nvPr/>
          </p:nvSpPr>
          <p:spPr>
            <a:xfrm>
              <a:off x="5209475" y="1350400"/>
              <a:ext cx="39725" cy="39725"/>
            </a:xfrm>
            <a:custGeom>
              <a:rect b="b" l="l" r="r" t="t"/>
              <a:pathLst>
                <a:path extrusionOk="0" h="1589" w="1589">
                  <a:moveTo>
                    <a:pt x="794" y="1"/>
                  </a:moveTo>
                  <a:cubicBezTo>
                    <a:pt x="353" y="1"/>
                    <a:pt x="0" y="354"/>
                    <a:pt x="0" y="795"/>
                  </a:cubicBezTo>
                  <a:cubicBezTo>
                    <a:pt x="0" y="1223"/>
                    <a:pt x="353" y="1589"/>
                    <a:pt x="794" y="1589"/>
                  </a:cubicBezTo>
                  <a:cubicBezTo>
                    <a:pt x="1235" y="1589"/>
                    <a:pt x="1588" y="1223"/>
                    <a:pt x="1588" y="795"/>
                  </a:cubicBezTo>
                  <a:cubicBezTo>
                    <a:pt x="1588" y="354"/>
                    <a:pt x="1235" y="1"/>
                    <a:pt x="79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3"/>
            <p:cNvSpPr/>
            <p:nvPr/>
          </p:nvSpPr>
          <p:spPr>
            <a:xfrm>
              <a:off x="5173875" y="1248975"/>
              <a:ext cx="46025" cy="39450"/>
            </a:xfrm>
            <a:custGeom>
              <a:rect b="b" l="l" r="r" t="t"/>
              <a:pathLst>
                <a:path extrusionOk="0" h="1578" w="1841">
                  <a:moveTo>
                    <a:pt x="1059" y="0"/>
                  </a:moveTo>
                  <a:cubicBezTo>
                    <a:pt x="353" y="0"/>
                    <a:pt x="0" y="845"/>
                    <a:pt x="505" y="1349"/>
                  </a:cubicBezTo>
                  <a:cubicBezTo>
                    <a:pt x="663" y="1507"/>
                    <a:pt x="858" y="1578"/>
                    <a:pt x="1049" y="1578"/>
                  </a:cubicBezTo>
                  <a:cubicBezTo>
                    <a:pt x="1452" y="1578"/>
                    <a:pt x="1840" y="1264"/>
                    <a:pt x="1840" y="794"/>
                  </a:cubicBezTo>
                  <a:cubicBezTo>
                    <a:pt x="1840" y="353"/>
                    <a:pt x="1487" y="0"/>
                    <a:pt x="105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3"/>
            <p:cNvSpPr/>
            <p:nvPr/>
          </p:nvSpPr>
          <p:spPr>
            <a:xfrm>
              <a:off x="5352500" y="938375"/>
              <a:ext cx="46000" cy="39500"/>
            </a:xfrm>
            <a:custGeom>
              <a:rect b="b" l="l" r="r" t="t"/>
              <a:pathLst>
                <a:path extrusionOk="0" h="1580" w="1840">
                  <a:moveTo>
                    <a:pt x="1059" y="0"/>
                  </a:moveTo>
                  <a:cubicBezTo>
                    <a:pt x="353" y="0"/>
                    <a:pt x="0" y="857"/>
                    <a:pt x="504" y="1348"/>
                  </a:cubicBezTo>
                  <a:cubicBezTo>
                    <a:pt x="664" y="1508"/>
                    <a:pt x="861" y="1580"/>
                    <a:pt x="1054" y="1580"/>
                  </a:cubicBezTo>
                  <a:cubicBezTo>
                    <a:pt x="1455" y="1580"/>
                    <a:pt x="1840" y="1270"/>
                    <a:pt x="1840" y="794"/>
                  </a:cubicBezTo>
                  <a:cubicBezTo>
                    <a:pt x="1840" y="353"/>
                    <a:pt x="1487" y="0"/>
                    <a:pt x="105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3"/>
            <p:cNvSpPr/>
            <p:nvPr/>
          </p:nvSpPr>
          <p:spPr>
            <a:xfrm>
              <a:off x="5722650" y="1358275"/>
              <a:ext cx="46000" cy="39525"/>
            </a:xfrm>
            <a:custGeom>
              <a:rect b="b" l="l" r="r" t="t"/>
              <a:pathLst>
                <a:path extrusionOk="0" h="1581" w="1840">
                  <a:moveTo>
                    <a:pt x="1046" y="1"/>
                  </a:moveTo>
                  <a:cubicBezTo>
                    <a:pt x="353" y="1"/>
                    <a:pt x="0" y="858"/>
                    <a:pt x="492" y="1349"/>
                  </a:cubicBezTo>
                  <a:cubicBezTo>
                    <a:pt x="655" y="1509"/>
                    <a:pt x="855" y="1581"/>
                    <a:pt x="1050" y="1581"/>
                  </a:cubicBezTo>
                  <a:cubicBezTo>
                    <a:pt x="1455" y="1581"/>
                    <a:pt x="1840" y="1271"/>
                    <a:pt x="1840" y="795"/>
                  </a:cubicBezTo>
                  <a:cubicBezTo>
                    <a:pt x="1840" y="354"/>
                    <a:pt x="1487" y="1"/>
                    <a:pt x="104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
            <p:cNvSpPr/>
            <p:nvPr/>
          </p:nvSpPr>
          <p:spPr>
            <a:xfrm>
              <a:off x="5859350" y="1157300"/>
              <a:ext cx="46025" cy="39450"/>
            </a:xfrm>
            <a:custGeom>
              <a:rect b="b" l="l" r="r" t="t"/>
              <a:pathLst>
                <a:path extrusionOk="0" h="1578" w="1841">
                  <a:moveTo>
                    <a:pt x="1059" y="1"/>
                  </a:moveTo>
                  <a:cubicBezTo>
                    <a:pt x="354" y="1"/>
                    <a:pt x="1" y="845"/>
                    <a:pt x="492" y="1349"/>
                  </a:cubicBezTo>
                  <a:cubicBezTo>
                    <a:pt x="655" y="1507"/>
                    <a:pt x="852" y="1578"/>
                    <a:pt x="1046" y="1578"/>
                  </a:cubicBezTo>
                  <a:cubicBezTo>
                    <a:pt x="1453" y="1578"/>
                    <a:pt x="1841" y="1264"/>
                    <a:pt x="1841" y="794"/>
                  </a:cubicBezTo>
                  <a:cubicBezTo>
                    <a:pt x="1841" y="353"/>
                    <a:pt x="1488" y="1"/>
                    <a:pt x="105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3"/>
            <p:cNvSpPr/>
            <p:nvPr/>
          </p:nvSpPr>
          <p:spPr>
            <a:xfrm>
              <a:off x="6131225" y="1060900"/>
              <a:ext cx="46025" cy="39350"/>
            </a:xfrm>
            <a:custGeom>
              <a:rect b="b" l="l" r="r" t="t"/>
              <a:pathLst>
                <a:path extrusionOk="0" h="1574" w="1841">
                  <a:moveTo>
                    <a:pt x="1059" y="1"/>
                  </a:moveTo>
                  <a:cubicBezTo>
                    <a:pt x="353" y="1"/>
                    <a:pt x="1" y="845"/>
                    <a:pt x="492" y="1336"/>
                  </a:cubicBezTo>
                  <a:cubicBezTo>
                    <a:pt x="656" y="1500"/>
                    <a:pt x="856" y="1574"/>
                    <a:pt x="1051" y="1574"/>
                  </a:cubicBezTo>
                  <a:cubicBezTo>
                    <a:pt x="1456" y="1574"/>
                    <a:pt x="1840" y="1258"/>
                    <a:pt x="1840" y="782"/>
                  </a:cubicBezTo>
                  <a:cubicBezTo>
                    <a:pt x="1840" y="341"/>
                    <a:pt x="1487" y="1"/>
                    <a:pt x="105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3"/>
            <p:cNvSpPr/>
            <p:nvPr/>
          </p:nvSpPr>
          <p:spPr>
            <a:xfrm>
              <a:off x="6358050" y="914425"/>
              <a:ext cx="46000" cy="39350"/>
            </a:xfrm>
            <a:custGeom>
              <a:rect b="b" l="l" r="r" t="t"/>
              <a:pathLst>
                <a:path extrusionOk="0" h="1574" w="1840">
                  <a:moveTo>
                    <a:pt x="1059" y="0"/>
                  </a:moveTo>
                  <a:cubicBezTo>
                    <a:pt x="353" y="0"/>
                    <a:pt x="0" y="845"/>
                    <a:pt x="504" y="1336"/>
                  </a:cubicBezTo>
                  <a:cubicBezTo>
                    <a:pt x="664" y="1500"/>
                    <a:pt x="861" y="1573"/>
                    <a:pt x="1054" y="1573"/>
                  </a:cubicBezTo>
                  <a:cubicBezTo>
                    <a:pt x="1455" y="1573"/>
                    <a:pt x="1840" y="1258"/>
                    <a:pt x="1840" y="782"/>
                  </a:cubicBezTo>
                  <a:cubicBezTo>
                    <a:pt x="1840" y="353"/>
                    <a:pt x="1487" y="0"/>
                    <a:pt x="105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3"/>
            <p:cNvSpPr/>
            <p:nvPr/>
          </p:nvSpPr>
          <p:spPr>
            <a:xfrm>
              <a:off x="6510200" y="1128325"/>
              <a:ext cx="46025" cy="39450"/>
            </a:xfrm>
            <a:custGeom>
              <a:rect b="b" l="l" r="r" t="t"/>
              <a:pathLst>
                <a:path extrusionOk="0" h="1578" w="1841">
                  <a:moveTo>
                    <a:pt x="1046" y="0"/>
                  </a:moveTo>
                  <a:cubicBezTo>
                    <a:pt x="353" y="0"/>
                    <a:pt x="0" y="845"/>
                    <a:pt x="492" y="1349"/>
                  </a:cubicBezTo>
                  <a:cubicBezTo>
                    <a:pt x="650" y="1507"/>
                    <a:pt x="846" y="1578"/>
                    <a:pt x="1039" y="1578"/>
                  </a:cubicBezTo>
                  <a:cubicBezTo>
                    <a:pt x="1446" y="1578"/>
                    <a:pt x="1840" y="1264"/>
                    <a:pt x="1840" y="794"/>
                  </a:cubicBezTo>
                  <a:cubicBezTo>
                    <a:pt x="1840" y="353"/>
                    <a:pt x="1487" y="0"/>
                    <a:pt x="104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3"/>
            <p:cNvSpPr/>
            <p:nvPr/>
          </p:nvSpPr>
          <p:spPr>
            <a:xfrm>
              <a:off x="6708025" y="1051150"/>
              <a:ext cx="46025" cy="39425"/>
            </a:xfrm>
            <a:custGeom>
              <a:rect b="b" l="l" r="r" t="t"/>
              <a:pathLst>
                <a:path extrusionOk="0" h="1577" w="1841">
                  <a:moveTo>
                    <a:pt x="1059" y="0"/>
                  </a:moveTo>
                  <a:cubicBezTo>
                    <a:pt x="354" y="0"/>
                    <a:pt x="1" y="844"/>
                    <a:pt x="492" y="1348"/>
                  </a:cubicBezTo>
                  <a:cubicBezTo>
                    <a:pt x="654" y="1506"/>
                    <a:pt x="851" y="1577"/>
                    <a:pt x="1044" y="1577"/>
                  </a:cubicBezTo>
                  <a:cubicBezTo>
                    <a:pt x="1451" y="1577"/>
                    <a:pt x="1840" y="1260"/>
                    <a:pt x="1840" y="781"/>
                  </a:cubicBezTo>
                  <a:cubicBezTo>
                    <a:pt x="1840" y="353"/>
                    <a:pt x="1488" y="0"/>
                    <a:pt x="105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3"/>
            <p:cNvSpPr/>
            <p:nvPr/>
          </p:nvSpPr>
          <p:spPr>
            <a:xfrm>
              <a:off x="7033125" y="1244875"/>
              <a:ext cx="46025" cy="39450"/>
            </a:xfrm>
            <a:custGeom>
              <a:rect b="b" l="l" r="r" t="t"/>
              <a:pathLst>
                <a:path extrusionOk="0" h="1578" w="1841">
                  <a:moveTo>
                    <a:pt x="1047" y="1"/>
                  </a:moveTo>
                  <a:cubicBezTo>
                    <a:pt x="341" y="1"/>
                    <a:pt x="1" y="858"/>
                    <a:pt x="492" y="1349"/>
                  </a:cubicBezTo>
                  <a:cubicBezTo>
                    <a:pt x="651" y="1507"/>
                    <a:pt x="847" y="1578"/>
                    <a:pt x="1040" y="1578"/>
                  </a:cubicBezTo>
                  <a:cubicBezTo>
                    <a:pt x="1447" y="1578"/>
                    <a:pt x="1841" y="1264"/>
                    <a:pt x="1841" y="795"/>
                  </a:cubicBezTo>
                  <a:cubicBezTo>
                    <a:pt x="1841" y="353"/>
                    <a:pt x="1488" y="1"/>
                    <a:pt x="104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3"/>
            <p:cNvSpPr/>
            <p:nvPr/>
          </p:nvSpPr>
          <p:spPr>
            <a:xfrm>
              <a:off x="4898850" y="1313550"/>
              <a:ext cx="46025" cy="39350"/>
            </a:xfrm>
            <a:custGeom>
              <a:rect b="b" l="l" r="r" t="t"/>
              <a:pathLst>
                <a:path extrusionOk="0" h="1574" w="1841">
                  <a:moveTo>
                    <a:pt x="1059" y="1"/>
                  </a:moveTo>
                  <a:cubicBezTo>
                    <a:pt x="354" y="1"/>
                    <a:pt x="1" y="845"/>
                    <a:pt x="492" y="1336"/>
                  </a:cubicBezTo>
                  <a:cubicBezTo>
                    <a:pt x="656" y="1500"/>
                    <a:pt x="856" y="1574"/>
                    <a:pt x="1051" y="1574"/>
                  </a:cubicBezTo>
                  <a:cubicBezTo>
                    <a:pt x="1456" y="1574"/>
                    <a:pt x="1841" y="1258"/>
                    <a:pt x="1841" y="782"/>
                  </a:cubicBezTo>
                  <a:cubicBezTo>
                    <a:pt x="1841" y="341"/>
                    <a:pt x="1488" y="1"/>
                    <a:pt x="105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3"/>
            <p:cNvSpPr/>
            <p:nvPr/>
          </p:nvSpPr>
          <p:spPr>
            <a:xfrm>
              <a:off x="5551575" y="1234800"/>
              <a:ext cx="46025" cy="39350"/>
            </a:xfrm>
            <a:custGeom>
              <a:rect b="b" l="l" r="r" t="t"/>
              <a:pathLst>
                <a:path extrusionOk="0" h="1574" w="1841">
                  <a:moveTo>
                    <a:pt x="1059" y="0"/>
                  </a:moveTo>
                  <a:cubicBezTo>
                    <a:pt x="354" y="0"/>
                    <a:pt x="1" y="845"/>
                    <a:pt x="505" y="1336"/>
                  </a:cubicBezTo>
                  <a:cubicBezTo>
                    <a:pt x="665" y="1500"/>
                    <a:pt x="862" y="1573"/>
                    <a:pt x="1055" y="1573"/>
                  </a:cubicBezTo>
                  <a:cubicBezTo>
                    <a:pt x="1456" y="1573"/>
                    <a:pt x="1841" y="1258"/>
                    <a:pt x="1841" y="782"/>
                  </a:cubicBezTo>
                  <a:cubicBezTo>
                    <a:pt x="1841" y="341"/>
                    <a:pt x="1488"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3"/>
            <p:cNvSpPr/>
            <p:nvPr/>
          </p:nvSpPr>
          <p:spPr>
            <a:xfrm>
              <a:off x="5887400" y="907725"/>
              <a:ext cx="45075" cy="39575"/>
            </a:xfrm>
            <a:custGeom>
              <a:rect b="b" l="l" r="r" t="t"/>
              <a:pathLst>
                <a:path extrusionOk="0" h="1583" w="1803">
                  <a:moveTo>
                    <a:pt x="896" y="1"/>
                  </a:moveTo>
                  <a:cubicBezTo>
                    <a:pt x="589" y="1"/>
                    <a:pt x="299" y="182"/>
                    <a:pt x="177" y="483"/>
                  </a:cubicBezTo>
                  <a:cubicBezTo>
                    <a:pt x="0" y="886"/>
                    <a:pt x="189" y="1352"/>
                    <a:pt x="593" y="1516"/>
                  </a:cubicBezTo>
                  <a:cubicBezTo>
                    <a:pt x="695" y="1561"/>
                    <a:pt x="802" y="1582"/>
                    <a:pt x="907" y="1582"/>
                  </a:cubicBezTo>
                  <a:cubicBezTo>
                    <a:pt x="1215" y="1582"/>
                    <a:pt x="1507" y="1400"/>
                    <a:pt x="1639" y="1100"/>
                  </a:cubicBezTo>
                  <a:cubicBezTo>
                    <a:pt x="1802" y="697"/>
                    <a:pt x="1613" y="231"/>
                    <a:pt x="1210" y="67"/>
                  </a:cubicBezTo>
                  <a:cubicBezTo>
                    <a:pt x="1107" y="22"/>
                    <a:pt x="1001" y="1"/>
                    <a:pt x="896"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3"/>
            <p:cNvSpPr/>
            <p:nvPr/>
          </p:nvSpPr>
          <p:spPr>
            <a:xfrm>
              <a:off x="6166200" y="1209275"/>
              <a:ext cx="39700" cy="39725"/>
            </a:xfrm>
            <a:custGeom>
              <a:rect b="b" l="l" r="r" t="t"/>
              <a:pathLst>
                <a:path extrusionOk="0" h="1589" w="1588">
                  <a:moveTo>
                    <a:pt x="794" y="1"/>
                  </a:moveTo>
                  <a:cubicBezTo>
                    <a:pt x="366" y="1"/>
                    <a:pt x="0" y="354"/>
                    <a:pt x="0" y="795"/>
                  </a:cubicBezTo>
                  <a:cubicBezTo>
                    <a:pt x="0" y="1223"/>
                    <a:pt x="366" y="1588"/>
                    <a:pt x="794" y="1588"/>
                  </a:cubicBezTo>
                  <a:cubicBezTo>
                    <a:pt x="1235" y="1588"/>
                    <a:pt x="1588" y="1223"/>
                    <a:pt x="1588" y="795"/>
                  </a:cubicBezTo>
                  <a:cubicBezTo>
                    <a:pt x="1588" y="354"/>
                    <a:pt x="1235" y="1"/>
                    <a:pt x="79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3"/>
            <p:cNvSpPr/>
            <p:nvPr/>
          </p:nvSpPr>
          <p:spPr>
            <a:xfrm>
              <a:off x="6373800" y="1380650"/>
              <a:ext cx="39700" cy="39400"/>
            </a:xfrm>
            <a:custGeom>
              <a:rect b="b" l="l" r="r" t="t"/>
              <a:pathLst>
                <a:path extrusionOk="0" h="1576" w="1588">
                  <a:moveTo>
                    <a:pt x="794" y="1"/>
                  </a:moveTo>
                  <a:cubicBezTo>
                    <a:pt x="353" y="1"/>
                    <a:pt x="0" y="353"/>
                    <a:pt x="0" y="794"/>
                  </a:cubicBezTo>
                  <a:cubicBezTo>
                    <a:pt x="0" y="1223"/>
                    <a:pt x="353" y="1576"/>
                    <a:pt x="794" y="1576"/>
                  </a:cubicBezTo>
                  <a:cubicBezTo>
                    <a:pt x="1235" y="1576"/>
                    <a:pt x="1588" y="1223"/>
                    <a:pt x="1588" y="794"/>
                  </a:cubicBezTo>
                  <a:cubicBezTo>
                    <a:pt x="1588" y="353"/>
                    <a:pt x="1235" y="1"/>
                    <a:pt x="79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3"/>
            <p:cNvSpPr/>
            <p:nvPr/>
          </p:nvSpPr>
          <p:spPr>
            <a:xfrm>
              <a:off x="6594950" y="1344425"/>
              <a:ext cx="46000" cy="39350"/>
            </a:xfrm>
            <a:custGeom>
              <a:rect b="b" l="l" r="r" t="t"/>
              <a:pathLst>
                <a:path extrusionOk="0" h="1574" w="1840">
                  <a:moveTo>
                    <a:pt x="1059" y="1"/>
                  </a:moveTo>
                  <a:cubicBezTo>
                    <a:pt x="353" y="1"/>
                    <a:pt x="0" y="845"/>
                    <a:pt x="491" y="1336"/>
                  </a:cubicBezTo>
                  <a:cubicBezTo>
                    <a:pt x="655" y="1500"/>
                    <a:pt x="855" y="1573"/>
                    <a:pt x="1050" y="1573"/>
                  </a:cubicBezTo>
                  <a:cubicBezTo>
                    <a:pt x="1455" y="1573"/>
                    <a:pt x="1840" y="1258"/>
                    <a:pt x="1840" y="782"/>
                  </a:cubicBezTo>
                  <a:cubicBezTo>
                    <a:pt x="1840" y="353"/>
                    <a:pt x="1487" y="1"/>
                    <a:pt x="105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3"/>
            <p:cNvSpPr/>
            <p:nvPr/>
          </p:nvSpPr>
          <p:spPr>
            <a:xfrm>
              <a:off x="6731025" y="1382850"/>
              <a:ext cx="46025" cy="39475"/>
            </a:xfrm>
            <a:custGeom>
              <a:rect b="b" l="l" r="r" t="t"/>
              <a:pathLst>
                <a:path extrusionOk="0" h="1579" w="1841">
                  <a:moveTo>
                    <a:pt x="1059" y="1"/>
                  </a:moveTo>
                  <a:cubicBezTo>
                    <a:pt x="353" y="1"/>
                    <a:pt x="1" y="858"/>
                    <a:pt x="505" y="1349"/>
                  </a:cubicBezTo>
                  <a:cubicBezTo>
                    <a:pt x="663" y="1507"/>
                    <a:pt x="858" y="1578"/>
                    <a:pt x="1049" y="1578"/>
                  </a:cubicBezTo>
                  <a:cubicBezTo>
                    <a:pt x="1452" y="1578"/>
                    <a:pt x="1840" y="1265"/>
                    <a:pt x="1840" y="795"/>
                  </a:cubicBezTo>
                  <a:cubicBezTo>
                    <a:pt x="1840" y="354"/>
                    <a:pt x="1488" y="1"/>
                    <a:pt x="105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3"/>
            <p:cNvSpPr/>
            <p:nvPr/>
          </p:nvSpPr>
          <p:spPr>
            <a:xfrm>
              <a:off x="6891700" y="1116350"/>
              <a:ext cx="46000" cy="39350"/>
            </a:xfrm>
            <a:custGeom>
              <a:rect b="b" l="l" r="r" t="t"/>
              <a:pathLst>
                <a:path extrusionOk="0" h="1574" w="1840">
                  <a:moveTo>
                    <a:pt x="1046" y="1"/>
                  </a:moveTo>
                  <a:cubicBezTo>
                    <a:pt x="353" y="1"/>
                    <a:pt x="0" y="845"/>
                    <a:pt x="491" y="1336"/>
                  </a:cubicBezTo>
                  <a:cubicBezTo>
                    <a:pt x="651" y="1500"/>
                    <a:pt x="850" y="1573"/>
                    <a:pt x="1045" y="1573"/>
                  </a:cubicBezTo>
                  <a:cubicBezTo>
                    <a:pt x="1450" y="1573"/>
                    <a:pt x="1840" y="1258"/>
                    <a:pt x="1840" y="782"/>
                  </a:cubicBezTo>
                  <a:cubicBezTo>
                    <a:pt x="1840" y="353"/>
                    <a:pt x="1487" y="1"/>
                    <a:pt x="1046"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3"/>
            <p:cNvSpPr/>
            <p:nvPr/>
          </p:nvSpPr>
          <p:spPr>
            <a:xfrm>
              <a:off x="7059275" y="1035400"/>
              <a:ext cx="46025" cy="39450"/>
            </a:xfrm>
            <a:custGeom>
              <a:rect b="b" l="l" r="r" t="t"/>
              <a:pathLst>
                <a:path extrusionOk="0" h="1578" w="1841">
                  <a:moveTo>
                    <a:pt x="1059" y="0"/>
                  </a:moveTo>
                  <a:cubicBezTo>
                    <a:pt x="354" y="0"/>
                    <a:pt x="1" y="844"/>
                    <a:pt x="505" y="1348"/>
                  </a:cubicBezTo>
                  <a:cubicBezTo>
                    <a:pt x="663" y="1507"/>
                    <a:pt x="858" y="1577"/>
                    <a:pt x="1049" y="1577"/>
                  </a:cubicBezTo>
                  <a:cubicBezTo>
                    <a:pt x="1452" y="1577"/>
                    <a:pt x="1840" y="1264"/>
                    <a:pt x="1840" y="794"/>
                  </a:cubicBezTo>
                  <a:cubicBezTo>
                    <a:pt x="1840" y="353"/>
                    <a:pt x="1488" y="0"/>
                    <a:pt x="105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3"/>
            <p:cNvSpPr/>
            <p:nvPr/>
          </p:nvSpPr>
          <p:spPr>
            <a:xfrm>
              <a:off x="4708275" y="856450"/>
              <a:ext cx="2575650" cy="667875"/>
            </a:xfrm>
            <a:custGeom>
              <a:rect b="b" l="l" r="r" t="t"/>
              <a:pathLst>
                <a:path extrusionOk="0" h="26715" w="103026">
                  <a:moveTo>
                    <a:pt x="55432" y="1"/>
                  </a:moveTo>
                  <a:lnTo>
                    <a:pt x="46271" y="7952"/>
                  </a:lnTo>
                  <a:lnTo>
                    <a:pt x="35938" y="5507"/>
                  </a:lnTo>
                  <a:lnTo>
                    <a:pt x="35913" y="5507"/>
                  </a:lnTo>
                  <a:lnTo>
                    <a:pt x="27294" y="11934"/>
                  </a:lnTo>
                  <a:lnTo>
                    <a:pt x="16382" y="6188"/>
                  </a:lnTo>
                  <a:lnTo>
                    <a:pt x="11480" y="23287"/>
                  </a:lnTo>
                  <a:lnTo>
                    <a:pt x="0" y="26526"/>
                  </a:lnTo>
                  <a:lnTo>
                    <a:pt x="38" y="26664"/>
                  </a:lnTo>
                  <a:lnTo>
                    <a:pt x="11593" y="23401"/>
                  </a:lnTo>
                  <a:lnTo>
                    <a:pt x="16470" y="6389"/>
                  </a:lnTo>
                  <a:lnTo>
                    <a:pt x="27306" y="12098"/>
                  </a:lnTo>
                  <a:lnTo>
                    <a:pt x="35938" y="5659"/>
                  </a:lnTo>
                  <a:lnTo>
                    <a:pt x="46309" y="8103"/>
                  </a:lnTo>
                  <a:lnTo>
                    <a:pt x="55419" y="215"/>
                  </a:lnTo>
                  <a:lnTo>
                    <a:pt x="64958" y="12186"/>
                  </a:lnTo>
                  <a:lnTo>
                    <a:pt x="64970" y="12211"/>
                  </a:lnTo>
                  <a:lnTo>
                    <a:pt x="79663" y="15815"/>
                  </a:lnTo>
                  <a:lnTo>
                    <a:pt x="79714" y="15827"/>
                  </a:lnTo>
                  <a:lnTo>
                    <a:pt x="87186" y="5293"/>
                  </a:lnTo>
                  <a:lnTo>
                    <a:pt x="90815" y="19368"/>
                  </a:lnTo>
                  <a:lnTo>
                    <a:pt x="90815" y="19394"/>
                  </a:lnTo>
                  <a:lnTo>
                    <a:pt x="102950" y="26715"/>
                  </a:lnTo>
                  <a:lnTo>
                    <a:pt x="103025" y="26589"/>
                  </a:lnTo>
                  <a:lnTo>
                    <a:pt x="90941" y="19305"/>
                  </a:lnTo>
                  <a:lnTo>
                    <a:pt x="87249" y="4966"/>
                  </a:lnTo>
                  <a:lnTo>
                    <a:pt x="79651" y="15664"/>
                  </a:lnTo>
                  <a:lnTo>
                    <a:pt x="65046" y="12085"/>
                  </a:lnTo>
                  <a:lnTo>
                    <a:pt x="55432"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3"/>
            <p:cNvSpPr/>
            <p:nvPr/>
          </p:nvSpPr>
          <p:spPr>
            <a:xfrm>
              <a:off x="4558950" y="1523350"/>
              <a:ext cx="2813800" cy="3825"/>
            </a:xfrm>
            <a:custGeom>
              <a:rect b="b" l="l" r="r" t="t"/>
              <a:pathLst>
                <a:path extrusionOk="0" h="153" w="112552">
                  <a:moveTo>
                    <a:pt x="1" y="1"/>
                  </a:moveTo>
                  <a:lnTo>
                    <a:pt x="1" y="152"/>
                  </a:lnTo>
                  <a:lnTo>
                    <a:pt x="112552" y="152"/>
                  </a:lnTo>
                  <a:lnTo>
                    <a:pt x="11255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3"/>
            <p:cNvSpPr/>
            <p:nvPr/>
          </p:nvSpPr>
          <p:spPr>
            <a:xfrm>
              <a:off x="4967225" y="1418775"/>
              <a:ext cx="46025" cy="39450"/>
            </a:xfrm>
            <a:custGeom>
              <a:rect b="b" l="l" r="r" t="t"/>
              <a:pathLst>
                <a:path extrusionOk="0" h="1578" w="1841">
                  <a:moveTo>
                    <a:pt x="1059" y="0"/>
                  </a:moveTo>
                  <a:cubicBezTo>
                    <a:pt x="353" y="0"/>
                    <a:pt x="0" y="845"/>
                    <a:pt x="492" y="1349"/>
                  </a:cubicBezTo>
                  <a:cubicBezTo>
                    <a:pt x="654" y="1506"/>
                    <a:pt x="850" y="1577"/>
                    <a:pt x="1043" y="1577"/>
                  </a:cubicBezTo>
                  <a:cubicBezTo>
                    <a:pt x="1451" y="1577"/>
                    <a:pt x="1840" y="1261"/>
                    <a:pt x="1840" y="782"/>
                  </a:cubicBezTo>
                  <a:cubicBezTo>
                    <a:pt x="1840" y="353"/>
                    <a:pt x="1487" y="0"/>
                    <a:pt x="105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3"/>
            <p:cNvSpPr/>
            <p:nvPr/>
          </p:nvSpPr>
          <p:spPr>
            <a:xfrm>
              <a:off x="5101172" y="992325"/>
              <a:ext cx="42875" cy="39850"/>
            </a:xfrm>
            <a:custGeom>
              <a:rect b="b" l="l" r="r" t="t"/>
              <a:pathLst>
                <a:path extrusionOk="0" h="1594" w="1715">
                  <a:moveTo>
                    <a:pt x="849" y="1"/>
                  </a:moveTo>
                  <a:cubicBezTo>
                    <a:pt x="810" y="1"/>
                    <a:pt x="771" y="4"/>
                    <a:pt x="731" y="9"/>
                  </a:cubicBezTo>
                  <a:cubicBezTo>
                    <a:pt x="290" y="85"/>
                    <a:pt x="1" y="488"/>
                    <a:pt x="76" y="917"/>
                  </a:cubicBezTo>
                  <a:cubicBezTo>
                    <a:pt x="133" y="1317"/>
                    <a:pt x="482" y="1593"/>
                    <a:pt x="866" y="1593"/>
                  </a:cubicBezTo>
                  <a:cubicBezTo>
                    <a:pt x="905" y="1593"/>
                    <a:pt x="944" y="1590"/>
                    <a:pt x="983" y="1584"/>
                  </a:cubicBezTo>
                  <a:cubicBezTo>
                    <a:pt x="1412" y="1509"/>
                    <a:pt x="1714" y="1106"/>
                    <a:pt x="1639" y="665"/>
                  </a:cubicBezTo>
                  <a:cubicBezTo>
                    <a:pt x="1581" y="276"/>
                    <a:pt x="1233" y="1"/>
                    <a:pt x="849"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3"/>
            <p:cNvSpPr/>
            <p:nvPr/>
          </p:nvSpPr>
          <p:spPr>
            <a:xfrm>
              <a:off x="5364775" y="1136200"/>
              <a:ext cx="46025" cy="39450"/>
            </a:xfrm>
            <a:custGeom>
              <a:rect b="b" l="l" r="r" t="t"/>
              <a:pathLst>
                <a:path extrusionOk="0" h="1578" w="1841">
                  <a:moveTo>
                    <a:pt x="1046" y="0"/>
                  </a:moveTo>
                  <a:cubicBezTo>
                    <a:pt x="353" y="0"/>
                    <a:pt x="1" y="845"/>
                    <a:pt x="492" y="1349"/>
                  </a:cubicBezTo>
                  <a:cubicBezTo>
                    <a:pt x="654" y="1507"/>
                    <a:pt x="852" y="1578"/>
                    <a:pt x="1045" y="1578"/>
                  </a:cubicBezTo>
                  <a:cubicBezTo>
                    <a:pt x="1452" y="1578"/>
                    <a:pt x="1840" y="1264"/>
                    <a:pt x="1840" y="794"/>
                  </a:cubicBezTo>
                  <a:cubicBezTo>
                    <a:pt x="1840" y="353"/>
                    <a:pt x="1488" y="0"/>
                    <a:pt x="104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3"/>
            <p:cNvSpPr/>
            <p:nvPr/>
          </p:nvSpPr>
          <p:spPr>
            <a:xfrm>
              <a:off x="5581825" y="976800"/>
              <a:ext cx="46025" cy="39525"/>
            </a:xfrm>
            <a:custGeom>
              <a:rect b="b" l="l" r="r" t="t"/>
              <a:pathLst>
                <a:path extrusionOk="0" h="1581" w="1841">
                  <a:moveTo>
                    <a:pt x="1059" y="0"/>
                  </a:moveTo>
                  <a:cubicBezTo>
                    <a:pt x="353" y="0"/>
                    <a:pt x="1" y="857"/>
                    <a:pt x="505" y="1349"/>
                  </a:cubicBezTo>
                  <a:cubicBezTo>
                    <a:pt x="664" y="1508"/>
                    <a:pt x="861" y="1580"/>
                    <a:pt x="1055" y="1580"/>
                  </a:cubicBezTo>
                  <a:cubicBezTo>
                    <a:pt x="1456" y="1580"/>
                    <a:pt x="1840" y="1270"/>
                    <a:pt x="1840" y="794"/>
                  </a:cubicBezTo>
                  <a:cubicBezTo>
                    <a:pt x="1840" y="353"/>
                    <a:pt x="1488" y="0"/>
                    <a:pt x="105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3"/>
            <p:cNvSpPr/>
            <p:nvPr/>
          </p:nvSpPr>
          <p:spPr>
            <a:xfrm>
              <a:off x="5838875" y="1036025"/>
              <a:ext cx="46025" cy="39450"/>
            </a:xfrm>
            <a:custGeom>
              <a:rect b="b" l="l" r="r" t="t"/>
              <a:pathLst>
                <a:path extrusionOk="0" h="1578" w="1841">
                  <a:moveTo>
                    <a:pt x="1059" y="0"/>
                  </a:moveTo>
                  <a:cubicBezTo>
                    <a:pt x="354" y="0"/>
                    <a:pt x="1" y="845"/>
                    <a:pt x="492" y="1349"/>
                  </a:cubicBezTo>
                  <a:cubicBezTo>
                    <a:pt x="655" y="1507"/>
                    <a:pt x="852" y="1578"/>
                    <a:pt x="1046" y="1578"/>
                  </a:cubicBezTo>
                  <a:cubicBezTo>
                    <a:pt x="1453" y="1578"/>
                    <a:pt x="1841" y="1264"/>
                    <a:pt x="1841" y="794"/>
                  </a:cubicBezTo>
                  <a:cubicBezTo>
                    <a:pt x="1841" y="353"/>
                    <a:pt x="1488" y="0"/>
                    <a:pt x="105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3"/>
            <p:cNvSpPr/>
            <p:nvPr/>
          </p:nvSpPr>
          <p:spPr>
            <a:xfrm>
              <a:off x="6316150" y="1138400"/>
              <a:ext cx="39700" cy="39400"/>
            </a:xfrm>
            <a:custGeom>
              <a:rect b="b" l="l" r="r" t="t"/>
              <a:pathLst>
                <a:path extrusionOk="0" h="1576" w="1588">
                  <a:moveTo>
                    <a:pt x="794" y="1"/>
                  </a:moveTo>
                  <a:cubicBezTo>
                    <a:pt x="353" y="1"/>
                    <a:pt x="0" y="353"/>
                    <a:pt x="0" y="782"/>
                  </a:cubicBezTo>
                  <a:cubicBezTo>
                    <a:pt x="0" y="1223"/>
                    <a:pt x="353" y="1576"/>
                    <a:pt x="794" y="1576"/>
                  </a:cubicBezTo>
                  <a:cubicBezTo>
                    <a:pt x="1235" y="1576"/>
                    <a:pt x="1588" y="1223"/>
                    <a:pt x="1588" y="782"/>
                  </a:cubicBezTo>
                  <a:cubicBezTo>
                    <a:pt x="1588" y="353"/>
                    <a:pt x="1235" y="1"/>
                    <a:pt x="79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3"/>
            <p:cNvSpPr/>
            <p:nvPr/>
          </p:nvSpPr>
          <p:spPr>
            <a:xfrm>
              <a:off x="6675275" y="1230075"/>
              <a:ext cx="46000" cy="39350"/>
            </a:xfrm>
            <a:custGeom>
              <a:rect b="b" l="l" r="r" t="t"/>
              <a:pathLst>
                <a:path extrusionOk="0" h="1574" w="1840">
                  <a:moveTo>
                    <a:pt x="1046" y="0"/>
                  </a:moveTo>
                  <a:cubicBezTo>
                    <a:pt x="353" y="0"/>
                    <a:pt x="0" y="845"/>
                    <a:pt x="492" y="1336"/>
                  </a:cubicBezTo>
                  <a:cubicBezTo>
                    <a:pt x="656" y="1500"/>
                    <a:pt x="856" y="1573"/>
                    <a:pt x="1051" y="1573"/>
                  </a:cubicBezTo>
                  <a:cubicBezTo>
                    <a:pt x="1456" y="1573"/>
                    <a:pt x="1840" y="1258"/>
                    <a:pt x="1840" y="782"/>
                  </a:cubicBezTo>
                  <a:cubicBezTo>
                    <a:pt x="1840" y="353"/>
                    <a:pt x="1487" y="0"/>
                    <a:pt x="104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3"/>
            <p:cNvSpPr/>
            <p:nvPr/>
          </p:nvSpPr>
          <p:spPr>
            <a:xfrm>
              <a:off x="6863325" y="967025"/>
              <a:ext cx="46350" cy="39350"/>
            </a:xfrm>
            <a:custGeom>
              <a:rect b="b" l="l" r="r" t="t"/>
              <a:pathLst>
                <a:path extrusionOk="0" h="1574" w="1854">
                  <a:moveTo>
                    <a:pt x="1059" y="1"/>
                  </a:moveTo>
                  <a:cubicBezTo>
                    <a:pt x="354" y="1"/>
                    <a:pt x="1" y="845"/>
                    <a:pt x="505" y="1336"/>
                  </a:cubicBezTo>
                  <a:cubicBezTo>
                    <a:pt x="665" y="1500"/>
                    <a:pt x="863" y="1574"/>
                    <a:pt x="1058" y="1574"/>
                  </a:cubicBezTo>
                  <a:cubicBezTo>
                    <a:pt x="1463" y="1574"/>
                    <a:pt x="1853" y="1258"/>
                    <a:pt x="1853" y="782"/>
                  </a:cubicBezTo>
                  <a:cubicBezTo>
                    <a:pt x="1853" y="341"/>
                    <a:pt x="1500" y="1"/>
                    <a:pt x="1059"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
            <p:cNvSpPr/>
            <p:nvPr/>
          </p:nvSpPr>
          <p:spPr>
            <a:xfrm>
              <a:off x="6956275" y="1323000"/>
              <a:ext cx="46000" cy="39350"/>
            </a:xfrm>
            <a:custGeom>
              <a:rect b="b" l="l" r="r" t="t"/>
              <a:pathLst>
                <a:path extrusionOk="0" h="1574" w="1840">
                  <a:moveTo>
                    <a:pt x="1059" y="1"/>
                  </a:moveTo>
                  <a:cubicBezTo>
                    <a:pt x="353" y="1"/>
                    <a:pt x="0" y="845"/>
                    <a:pt x="504" y="1336"/>
                  </a:cubicBezTo>
                  <a:cubicBezTo>
                    <a:pt x="664" y="1500"/>
                    <a:pt x="861" y="1574"/>
                    <a:pt x="1055" y="1574"/>
                  </a:cubicBezTo>
                  <a:cubicBezTo>
                    <a:pt x="1456" y="1574"/>
                    <a:pt x="1840" y="1258"/>
                    <a:pt x="1840" y="782"/>
                  </a:cubicBezTo>
                  <a:cubicBezTo>
                    <a:pt x="1840" y="354"/>
                    <a:pt x="1487" y="1"/>
                    <a:pt x="1059"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 name="Shape 77"/>
        <p:cNvGrpSpPr/>
        <p:nvPr/>
      </p:nvGrpSpPr>
      <p:grpSpPr>
        <a:xfrm>
          <a:off x="0" y="0"/>
          <a:ext cx="0" cy="0"/>
          <a:chOff x="0" y="0"/>
          <a:chExt cx="0" cy="0"/>
        </a:xfrm>
      </p:grpSpPr>
      <p:sp>
        <p:nvSpPr>
          <p:cNvPr id="78" name="Google Shape;78;p4"/>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79" name="Google Shape;79;p4"/>
          <p:cNvSpPr/>
          <p:nvPr/>
        </p:nvSpPr>
        <p:spPr>
          <a:xfrm>
            <a:off x="7573050" y="27737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4"/>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4"/>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4"/>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4"/>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4"/>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4"/>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4"/>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4"/>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4"/>
          <p:cNvSpPr/>
          <p:nvPr/>
        </p:nvSpPr>
        <p:spPr>
          <a:xfrm>
            <a:off x="564075" y="47539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9" name="Shape 89"/>
        <p:cNvGrpSpPr/>
        <p:nvPr/>
      </p:nvGrpSpPr>
      <p:grpSpPr>
        <a:xfrm>
          <a:off x="0" y="0"/>
          <a:ext cx="0" cy="0"/>
          <a:chOff x="0" y="0"/>
          <a:chExt cx="0" cy="0"/>
        </a:xfrm>
      </p:grpSpPr>
      <p:sp>
        <p:nvSpPr>
          <p:cNvPr id="90" name="Google Shape;90;p5"/>
          <p:cNvSpPr/>
          <p:nvPr>
            <p:ph idx="2" type="pic"/>
          </p:nvPr>
        </p:nvSpPr>
        <p:spPr>
          <a:xfrm>
            <a:off x="0" y="0"/>
            <a:ext cx="9144000" cy="5143500"/>
          </a:xfrm>
          <a:prstGeom prst="rect">
            <a:avLst/>
          </a:prstGeom>
          <a:noFill/>
          <a:ln>
            <a:noFill/>
          </a:ln>
        </p:spPr>
      </p:sp>
      <p:sp>
        <p:nvSpPr>
          <p:cNvPr id="91" name="Google Shape;91;p5"/>
          <p:cNvSpPr txBox="1"/>
          <p:nvPr>
            <p:ph type="title"/>
          </p:nvPr>
        </p:nvSpPr>
        <p:spPr>
          <a:xfrm>
            <a:off x="581925" y="3391646"/>
            <a:ext cx="4126500" cy="1321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
    <p:spTree>
      <p:nvGrpSpPr>
        <p:cNvPr id="92" name="Shape 92"/>
        <p:cNvGrpSpPr/>
        <p:nvPr/>
      </p:nvGrpSpPr>
      <p:grpSpPr>
        <a:xfrm>
          <a:off x="0" y="0"/>
          <a:ext cx="0" cy="0"/>
          <a:chOff x="0" y="0"/>
          <a:chExt cx="0" cy="0"/>
        </a:xfrm>
      </p:grpSpPr>
      <p:sp>
        <p:nvSpPr>
          <p:cNvPr id="93" name="Google Shape;93;p6"/>
          <p:cNvSpPr txBox="1"/>
          <p:nvPr>
            <p:ph type="ctrTitle"/>
          </p:nvPr>
        </p:nvSpPr>
        <p:spPr>
          <a:xfrm>
            <a:off x="3068675" y="3075325"/>
            <a:ext cx="3055800" cy="54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5200"/>
              <a:buNone/>
              <a:defRPr sz="2400">
                <a:solidFill>
                  <a:schemeClr val="accent1"/>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94" name="Google Shape;94;p6"/>
          <p:cNvSpPr txBox="1"/>
          <p:nvPr>
            <p:ph idx="1" type="subTitle"/>
          </p:nvPr>
        </p:nvSpPr>
        <p:spPr>
          <a:xfrm>
            <a:off x="2333000" y="1799075"/>
            <a:ext cx="4478100" cy="79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5" name="Google Shape;95;p6"/>
          <p:cNvSpPr/>
          <p:nvPr/>
        </p:nvSpPr>
        <p:spPr>
          <a:xfrm>
            <a:off x="1621169" y="2890613"/>
            <a:ext cx="121198" cy="121434"/>
          </a:xfrm>
          <a:custGeom>
            <a:rect b="b" l="l" r="r" t="t"/>
            <a:pathLst>
              <a:path extrusionOk="0" h="4634" w="4625">
                <a:moveTo>
                  <a:pt x="1" y="0"/>
                </a:moveTo>
                <a:lnTo>
                  <a:pt x="1" y="4633"/>
                </a:lnTo>
                <a:lnTo>
                  <a:pt x="4625" y="4633"/>
                </a:lnTo>
                <a:lnTo>
                  <a:pt x="4625"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6"/>
          <p:cNvSpPr/>
          <p:nvPr/>
        </p:nvSpPr>
        <p:spPr>
          <a:xfrm>
            <a:off x="1238740" y="2106884"/>
            <a:ext cx="121434" cy="121434"/>
          </a:xfrm>
          <a:custGeom>
            <a:rect b="b" l="l" r="r" t="t"/>
            <a:pathLst>
              <a:path extrusionOk="0" h="4634" w="4634">
                <a:moveTo>
                  <a:pt x="0" y="1"/>
                </a:moveTo>
                <a:lnTo>
                  <a:pt x="0" y="4634"/>
                </a:lnTo>
                <a:lnTo>
                  <a:pt x="4633" y="4634"/>
                </a:lnTo>
                <a:lnTo>
                  <a:pt x="463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6"/>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9525">
            <a:solidFill>
              <a:schemeClr val="accent1"/>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6"/>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6"/>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0" name="Google Shape;100;p6"/>
          <p:cNvGrpSpPr/>
          <p:nvPr/>
        </p:nvGrpSpPr>
        <p:grpSpPr>
          <a:xfrm>
            <a:off x="8217007" y="3576772"/>
            <a:ext cx="188886" cy="1181532"/>
            <a:chOff x="2877432" y="975334"/>
            <a:chExt cx="188886" cy="1181532"/>
          </a:xfrm>
        </p:grpSpPr>
        <p:sp>
          <p:nvSpPr>
            <p:cNvPr id="101" name="Google Shape;101;p6"/>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chemeClr val="accent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6"/>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chemeClr val="accent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6"/>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chemeClr val="accent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4" name="Google Shape;104;p6"/>
          <p:cNvSpPr/>
          <p:nvPr/>
        </p:nvSpPr>
        <p:spPr>
          <a:xfrm>
            <a:off x="8718796" y="1164882"/>
            <a:ext cx="80502" cy="80476"/>
          </a:xfrm>
          <a:custGeom>
            <a:rect b="b" l="l" r="r" t="t"/>
            <a:pathLst>
              <a:path extrusionOk="0" h="3071" w="3072">
                <a:moveTo>
                  <a:pt x="1" y="0"/>
                </a:moveTo>
                <a:lnTo>
                  <a:pt x="1" y="3070"/>
                </a:lnTo>
                <a:lnTo>
                  <a:pt x="3071" y="3070"/>
                </a:lnTo>
                <a:lnTo>
                  <a:pt x="307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5" name="Google Shape;105;p6"/>
          <p:cNvGrpSpPr/>
          <p:nvPr/>
        </p:nvGrpSpPr>
        <p:grpSpPr>
          <a:xfrm>
            <a:off x="7519346" y="3243318"/>
            <a:ext cx="98059" cy="1147595"/>
            <a:chOff x="3347921" y="16006"/>
            <a:chExt cx="98059" cy="1147595"/>
          </a:xfrm>
        </p:grpSpPr>
        <p:sp>
          <p:nvSpPr>
            <p:cNvPr id="106" name="Google Shape;106;p6"/>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chemeClr val="accent1"/>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6"/>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8" name="Google Shape;108;p6"/>
          <p:cNvGrpSpPr/>
          <p:nvPr/>
        </p:nvGrpSpPr>
        <p:grpSpPr>
          <a:xfrm>
            <a:off x="805821" y="2953663"/>
            <a:ext cx="121172" cy="760495"/>
            <a:chOff x="5245196" y="3136513"/>
            <a:chExt cx="121172" cy="760495"/>
          </a:xfrm>
        </p:grpSpPr>
        <p:sp>
          <p:nvSpPr>
            <p:cNvPr id="109" name="Google Shape;109;p6"/>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6"/>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1" name="Google Shape;111;p6"/>
          <p:cNvGrpSpPr/>
          <p:nvPr/>
        </p:nvGrpSpPr>
        <p:grpSpPr>
          <a:xfrm>
            <a:off x="250617" y="2402301"/>
            <a:ext cx="188650" cy="2468355"/>
            <a:chOff x="250617" y="2402301"/>
            <a:chExt cx="188650" cy="2468355"/>
          </a:xfrm>
        </p:grpSpPr>
        <p:sp>
          <p:nvSpPr>
            <p:cNvPr id="112" name="Google Shape;112;p6"/>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chemeClr val="accent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6"/>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chemeClr val="accent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6"/>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chemeClr val="accent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6"/>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6" name="Google Shape;116;p6"/>
          <p:cNvSpPr/>
          <p:nvPr/>
        </p:nvSpPr>
        <p:spPr>
          <a:xfrm>
            <a:off x="8307214" y="-383977"/>
            <a:ext cx="8464" cy="2519637"/>
          </a:xfrm>
          <a:custGeom>
            <a:rect b="b" l="l" r="r" t="t"/>
            <a:pathLst>
              <a:path extrusionOk="0" h="96151" w="323">
                <a:moveTo>
                  <a:pt x="166" y="0"/>
                </a:moveTo>
                <a:lnTo>
                  <a:pt x="1" y="96150"/>
                </a:lnTo>
                <a:lnTo>
                  <a:pt x="323" y="96150"/>
                </a:lnTo>
                <a:lnTo>
                  <a:pt x="16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6"/>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8" name="Google Shape;118;p6"/>
          <p:cNvGrpSpPr/>
          <p:nvPr/>
        </p:nvGrpSpPr>
        <p:grpSpPr>
          <a:xfrm>
            <a:off x="2038689" y="173907"/>
            <a:ext cx="57599" cy="831799"/>
            <a:chOff x="2038689" y="173907"/>
            <a:chExt cx="57599" cy="831799"/>
          </a:xfrm>
        </p:grpSpPr>
        <p:sp>
          <p:nvSpPr>
            <p:cNvPr id="119" name="Google Shape;119;p6"/>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6"/>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1" name="Google Shape;121;p6"/>
          <p:cNvSpPr/>
          <p:nvPr/>
        </p:nvSpPr>
        <p:spPr>
          <a:xfrm>
            <a:off x="7582340" y="1834534"/>
            <a:ext cx="121434" cy="121434"/>
          </a:xfrm>
          <a:custGeom>
            <a:rect b="b" l="l" r="r" t="t"/>
            <a:pathLst>
              <a:path extrusionOk="0" h="4634" w="4634">
                <a:moveTo>
                  <a:pt x="0" y="1"/>
                </a:moveTo>
                <a:lnTo>
                  <a:pt x="0" y="4634"/>
                </a:lnTo>
                <a:lnTo>
                  <a:pt x="4633" y="4634"/>
                </a:lnTo>
                <a:lnTo>
                  <a:pt x="4633"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2" name="Google Shape;122;p6"/>
          <p:cNvGrpSpPr/>
          <p:nvPr/>
        </p:nvGrpSpPr>
        <p:grpSpPr>
          <a:xfrm>
            <a:off x="4920170" y="-496491"/>
            <a:ext cx="188886" cy="1181532"/>
            <a:chOff x="2877432" y="975334"/>
            <a:chExt cx="188886" cy="1181532"/>
          </a:xfrm>
        </p:grpSpPr>
        <p:sp>
          <p:nvSpPr>
            <p:cNvPr id="123" name="Google Shape;123;p6"/>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6"/>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6"/>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6" name="Google Shape;126;p6"/>
          <p:cNvSpPr/>
          <p:nvPr/>
        </p:nvSpPr>
        <p:spPr>
          <a:xfrm>
            <a:off x="7084804" y="549572"/>
            <a:ext cx="80476" cy="80476"/>
          </a:xfrm>
          <a:custGeom>
            <a:rect b="b" l="l" r="r" t="t"/>
            <a:pathLst>
              <a:path extrusionOk="0" h="3071" w="3071">
                <a:moveTo>
                  <a:pt x="1" y="1"/>
                </a:moveTo>
                <a:lnTo>
                  <a:pt x="1" y="3071"/>
                </a:lnTo>
                <a:lnTo>
                  <a:pt x="3071" y="3071"/>
                </a:lnTo>
                <a:lnTo>
                  <a:pt x="307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7" name="Google Shape;127;p6"/>
          <p:cNvGrpSpPr/>
          <p:nvPr/>
        </p:nvGrpSpPr>
        <p:grpSpPr>
          <a:xfrm>
            <a:off x="3030471" y="-223849"/>
            <a:ext cx="121172" cy="760495"/>
            <a:chOff x="5245196" y="3136513"/>
            <a:chExt cx="121172" cy="760495"/>
          </a:xfrm>
        </p:grpSpPr>
        <p:sp>
          <p:nvSpPr>
            <p:cNvPr id="128" name="Google Shape;128;p6"/>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6"/>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0" name="Google Shape;130;p6"/>
          <p:cNvGrpSpPr/>
          <p:nvPr/>
        </p:nvGrpSpPr>
        <p:grpSpPr>
          <a:xfrm>
            <a:off x="2306292" y="2569221"/>
            <a:ext cx="199237" cy="2828935"/>
            <a:chOff x="1608717" y="1280046"/>
            <a:chExt cx="199237" cy="2828935"/>
          </a:xfrm>
        </p:grpSpPr>
        <p:sp>
          <p:nvSpPr>
            <p:cNvPr id="131" name="Google Shape;131;p6"/>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6"/>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6"/>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5">
    <p:spTree>
      <p:nvGrpSpPr>
        <p:cNvPr id="134" name="Shape 134"/>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5" name="Shape 135"/>
        <p:cNvGrpSpPr/>
        <p:nvPr/>
      </p:nvGrpSpPr>
      <p:grpSpPr>
        <a:xfrm>
          <a:off x="0" y="0"/>
          <a:ext cx="0" cy="0"/>
          <a:chOff x="0" y="0"/>
          <a:chExt cx="0" cy="0"/>
        </a:xfrm>
      </p:grpSpPr>
      <p:sp>
        <p:nvSpPr>
          <p:cNvPr id="136" name="Google Shape;136;p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37" name="Google Shape;137;p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38" name="Google Shape;138;p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39" name="Shape 13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1pPr>
            <a:lvl2pPr lvl="1"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2pPr>
            <a:lvl3pPr lvl="2"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3pPr>
            <a:lvl4pPr lvl="3"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4pPr>
            <a:lvl5pPr lvl="4"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5pPr>
            <a:lvl6pPr lvl="5"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6pPr>
            <a:lvl7pPr lvl="6"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7pPr>
            <a:lvl8pPr lvl="7"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8pPr>
            <a:lvl9pPr lvl="8"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lt1"/>
              </a:buClr>
              <a:buSzPts val="1800"/>
              <a:buFont typeface="Maven Pro"/>
              <a:buChar char="●"/>
              <a:defRPr b="0" i="0" sz="1800" u="none" cap="none" strike="noStrike">
                <a:solidFill>
                  <a:schemeClr val="lt1"/>
                </a:solidFill>
                <a:latin typeface="Maven Pro"/>
                <a:ea typeface="Maven Pro"/>
                <a:cs typeface="Maven Pro"/>
                <a:sym typeface="Maven Pro"/>
              </a:defRPr>
            </a:lvl1pPr>
            <a:lvl2pPr indent="-317500" lvl="1" marL="9144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2pPr>
            <a:lvl3pPr indent="-317500" lvl="2" marL="13716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3pPr>
            <a:lvl4pPr indent="-317500" lvl="3" marL="18288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4pPr>
            <a:lvl5pPr indent="-317500" lvl="4" marL="22860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5pPr>
            <a:lvl6pPr indent="-317500" lvl="5" marL="27432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6pPr>
            <a:lvl7pPr indent="-317500" lvl="6" marL="32004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7pPr>
            <a:lvl8pPr indent="-317500" lvl="7" marL="36576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8pPr>
            <a:lvl9pPr indent="-317500" lvl="8" marL="4114800" marR="0" rtl="0" algn="l">
              <a:lnSpc>
                <a:spcPct val="115000"/>
              </a:lnSpc>
              <a:spcBef>
                <a:spcPts val="1600"/>
              </a:spcBef>
              <a:spcAft>
                <a:spcPts val="160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0"/>
          <p:cNvSpPr txBox="1"/>
          <p:nvPr>
            <p:ph idx="1" type="subTitle"/>
          </p:nvPr>
        </p:nvSpPr>
        <p:spPr>
          <a:xfrm>
            <a:off x="3164999" y="2635600"/>
            <a:ext cx="3748800" cy="17265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2800"/>
              <a:buNone/>
            </a:pPr>
            <a:r>
              <a:rPr lang="en-US"/>
              <a:t>Name: Sadia Mahjabin Sanchary</a:t>
            </a:r>
            <a:endParaRPr/>
          </a:p>
          <a:p>
            <a:pPr indent="0" lvl="0" marL="0" rtl="0" algn="just">
              <a:lnSpc>
                <a:spcPct val="100000"/>
              </a:lnSpc>
              <a:spcBef>
                <a:spcPts val="0"/>
              </a:spcBef>
              <a:spcAft>
                <a:spcPts val="0"/>
              </a:spcAft>
              <a:buSzPts val="2800"/>
              <a:buNone/>
            </a:pPr>
            <a:r>
              <a:rPr lang="en-US"/>
              <a:t>ID:1912138042</a:t>
            </a:r>
            <a:endParaRPr/>
          </a:p>
          <a:p>
            <a:pPr indent="0" lvl="0" marL="0" rtl="0" algn="just">
              <a:lnSpc>
                <a:spcPct val="100000"/>
              </a:lnSpc>
              <a:spcBef>
                <a:spcPts val="0"/>
              </a:spcBef>
              <a:spcAft>
                <a:spcPts val="0"/>
              </a:spcAft>
              <a:buSzPts val="2800"/>
              <a:buNone/>
            </a:pPr>
            <a:r>
              <a:rPr lang="en-US"/>
              <a:t>Course:CSE-498r</a:t>
            </a:r>
            <a:endParaRPr/>
          </a:p>
          <a:p>
            <a:pPr indent="0" lvl="0" marL="0" rtl="0" algn="just">
              <a:lnSpc>
                <a:spcPct val="100000"/>
              </a:lnSpc>
              <a:spcBef>
                <a:spcPts val="0"/>
              </a:spcBef>
              <a:spcAft>
                <a:spcPts val="0"/>
              </a:spcAft>
              <a:buSzPts val="2800"/>
              <a:buNone/>
            </a:pPr>
            <a:r>
              <a:rPr lang="en-US"/>
              <a:t>Faculty Initial: MEZ</a:t>
            </a:r>
            <a:endParaRPr/>
          </a:p>
        </p:txBody>
      </p:sp>
      <p:sp>
        <p:nvSpPr>
          <p:cNvPr id="145" name="Google Shape;145;p10"/>
          <p:cNvSpPr txBox="1"/>
          <p:nvPr>
            <p:ph type="ctrTitle"/>
          </p:nvPr>
        </p:nvSpPr>
        <p:spPr>
          <a:xfrm>
            <a:off x="1419196" y="399996"/>
            <a:ext cx="6020700" cy="2052600"/>
          </a:xfrm>
          <a:prstGeom prst="rect">
            <a:avLst/>
          </a:prstGeom>
          <a:noFill/>
          <a:ln>
            <a:noFill/>
          </a:ln>
        </p:spPr>
        <p:txBody>
          <a:bodyPr anchorCtr="0" anchor="b" bIns="91425" lIns="91425" spcFirstLastPara="1" rIns="91425" wrap="square" tIns="91425">
            <a:noAutofit/>
          </a:bodyPr>
          <a:lstStyle/>
          <a:p>
            <a:pPr indent="0" lvl="0" marL="0" marR="0" rtl="0" algn="ctr">
              <a:lnSpc>
                <a:spcPct val="150000"/>
              </a:lnSpc>
              <a:spcBef>
                <a:spcPts val="0"/>
              </a:spcBef>
              <a:spcAft>
                <a:spcPts val="0"/>
              </a:spcAft>
              <a:buSzPts val="5200"/>
              <a:buNone/>
            </a:pPr>
            <a:r>
              <a:rPr b="1" lang="en-US" sz="3200">
                <a:solidFill>
                  <a:schemeClr val="lt1"/>
                </a:solidFill>
                <a:latin typeface="Times New Roman"/>
                <a:ea typeface="Times New Roman"/>
                <a:cs typeface="Times New Roman"/>
                <a:sym typeface="Times New Roman"/>
              </a:rPr>
              <a:t>Flood Prediction Using Various Machine Learning Model </a:t>
            </a:r>
            <a:endParaRPr sz="3200">
              <a:solidFill>
                <a:schemeClr val="lt1"/>
              </a:solidFill>
              <a:latin typeface="Times New Roman"/>
              <a:ea typeface="Times New Roman"/>
              <a:cs typeface="Times New Roman"/>
              <a:sym typeface="Times New Roman"/>
            </a:endParaRPr>
          </a:p>
        </p:txBody>
      </p:sp>
      <p:sp>
        <p:nvSpPr>
          <p:cNvPr id="146" name="Google Shape;146;p10"/>
          <p:cNvSpPr/>
          <p:nvPr/>
        </p:nvSpPr>
        <p:spPr>
          <a:xfrm>
            <a:off x="1917281" y="4715495"/>
            <a:ext cx="121434" cy="121434"/>
          </a:xfrm>
          <a:custGeom>
            <a:rect b="b" l="l" r="r" t="t"/>
            <a:pathLst>
              <a:path extrusionOk="0" h="4634" w="4634">
                <a:moveTo>
                  <a:pt x="1" y="0"/>
                </a:moveTo>
                <a:lnTo>
                  <a:pt x="1" y="4633"/>
                </a:lnTo>
                <a:lnTo>
                  <a:pt x="4634" y="4633"/>
                </a:lnTo>
                <a:lnTo>
                  <a:pt x="463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0"/>
          <p:cNvSpPr/>
          <p:nvPr/>
        </p:nvSpPr>
        <p:spPr>
          <a:xfrm>
            <a:off x="7047944" y="3537816"/>
            <a:ext cx="57834" cy="57834"/>
          </a:xfrm>
          <a:custGeom>
            <a:rect b="b" l="l" r="r" t="t"/>
            <a:pathLst>
              <a:path extrusionOk="0" fill="none" h="2207" w="2207">
                <a:moveTo>
                  <a:pt x="0" y="1"/>
                </a:moveTo>
                <a:lnTo>
                  <a:pt x="2206" y="1"/>
                </a:lnTo>
                <a:lnTo>
                  <a:pt x="2206" y="2207"/>
                </a:lnTo>
                <a:lnTo>
                  <a:pt x="0" y="2207"/>
                </a:lnTo>
                <a:close/>
              </a:path>
            </a:pathLst>
          </a:custGeom>
          <a:noFill/>
          <a:ln cap="flat" cmpd="sng" w="9525">
            <a:solidFill>
              <a:schemeClr val="accent1"/>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0"/>
          <p:cNvSpPr/>
          <p:nvPr/>
        </p:nvSpPr>
        <p:spPr>
          <a:xfrm>
            <a:off x="2307882" y="3002386"/>
            <a:ext cx="104086" cy="104322"/>
          </a:xfrm>
          <a:custGeom>
            <a:rect b="b" l="l" r="r" t="t"/>
            <a:pathLst>
              <a:path extrusionOk="0" fill="none" h="3981" w="3972">
                <a:moveTo>
                  <a:pt x="1" y="1"/>
                </a:moveTo>
                <a:lnTo>
                  <a:pt x="3972" y="1"/>
                </a:lnTo>
                <a:lnTo>
                  <a:pt x="3972" y="3981"/>
                </a:lnTo>
                <a:lnTo>
                  <a:pt x="1" y="3981"/>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0"/>
          <p:cNvSpPr/>
          <p:nvPr/>
        </p:nvSpPr>
        <p:spPr>
          <a:xfrm>
            <a:off x="6293004" y="835609"/>
            <a:ext cx="80476" cy="80476"/>
          </a:xfrm>
          <a:custGeom>
            <a:rect b="b" l="l" r="r" t="t"/>
            <a:pathLst>
              <a:path extrusionOk="0" h="3071" w="3071">
                <a:moveTo>
                  <a:pt x="1" y="1"/>
                </a:moveTo>
                <a:lnTo>
                  <a:pt x="1" y="3071"/>
                </a:lnTo>
                <a:lnTo>
                  <a:pt x="3071" y="3071"/>
                </a:lnTo>
                <a:lnTo>
                  <a:pt x="307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0"/>
          <p:cNvSpPr/>
          <p:nvPr/>
        </p:nvSpPr>
        <p:spPr>
          <a:xfrm>
            <a:off x="5969504" y="3118803"/>
            <a:ext cx="119993" cy="119966"/>
          </a:xfrm>
          <a:custGeom>
            <a:rect b="b" l="l" r="r" t="t"/>
            <a:pathLst>
              <a:path extrusionOk="0" h="4578" w="4579">
                <a:moveTo>
                  <a:pt x="1" y="0"/>
                </a:moveTo>
                <a:lnTo>
                  <a:pt x="1" y="4578"/>
                </a:lnTo>
                <a:lnTo>
                  <a:pt x="4578" y="4578"/>
                </a:lnTo>
                <a:lnTo>
                  <a:pt x="4578"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0"/>
          <p:cNvSpPr/>
          <p:nvPr/>
        </p:nvSpPr>
        <p:spPr>
          <a:xfrm>
            <a:off x="2924242" y="4302208"/>
            <a:ext cx="119993" cy="119993"/>
          </a:xfrm>
          <a:custGeom>
            <a:rect b="b" l="l" r="r" t="t"/>
            <a:pathLst>
              <a:path extrusionOk="0" h="4579" w="4579">
                <a:moveTo>
                  <a:pt x="0" y="1"/>
                </a:moveTo>
                <a:lnTo>
                  <a:pt x="0" y="4578"/>
                </a:lnTo>
                <a:lnTo>
                  <a:pt x="4578" y="4578"/>
                </a:lnTo>
                <a:lnTo>
                  <a:pt x="4578"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2" name="Google Shape;152;p10"/>
          <p:cNvGrpSpPr/>
          <p:nvPr/>
        </p:nvGrpSpPr>
        <p:grpSpPr>
          <a:xfrm>
            <a:off x="6232314" y="3696331"/>
            <a:ext cx="121434" cy="1073147"/>
            <a:chOff x="6232314" y="3696331"/>
            <a:chExt cx="121434" cy="1073147"/>
          </a:xfrm>
        </p:grpSpPr>
        <p:sp>
          <p:nvSpPr>
            <p:cNvPr id="153" name="Google Shape;153;p10"/>
            <p:cNvSpPr/>
            <p:nvPr/>
          </p:nvSpPr>
          <p:spPr>
            <a:xfrm>
              <a:off x="6232314" y="4648280"/>
              <a:ext cx="121434" cy="121198"/>
            </a:xfrm>
            <a:custGeom>
              <a:rect b="b" l="l" r="r" t="t"/>
              <a:pathLst>
                <a:path extrusionOk="0" h="4625" w="4634">
                  <a:moveTo>
                    <a:pt x="0" y="1"/>
                  </a:moveTo>
                  <a:lnTo>
                    <a:pt x="0" y="4624"/>
                  </a:lnTo>
                  <a:lnTo>
                    <a:pt x="4633" y="4624"/>
                  </a:lnTo>
                  <a:lnTo>
                    <a:pt x="4633"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0"/>
            <p:cNvSpPr/>
            <p:nvPr/>
          </p:nvSpPr>
          <p:spPr>
            <a:xfrm>
              <a:off x="6288681" y="3696331"/>
              <a:ext cx="8700" cy="872731"/>
            </a:xfrm>
            <a:custGeom>
              <a:rect b="b" l="l" r="r" t="t"/>
              <a:pathLst>
                <a:path extrusionOk="0" h="33304" w="332">
                  <a:moveTo>
                    <a:pt x="166" y="0"/>
                  </a:moveTo>
                  <a:lnTo>
                    <a:pt x="0" y="33304"/>
                  </a:lnTo>
                  <a:lnTo>
                    <a:pt x="331" y="33304"/>
                  </a:lnTo>
                  <a:lnTo>
                    <a:pt x="16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5" name="Google Shape;155;p10"/>
          <p:cNvGrpSpPr/>
          <p:nvPr/>
        </p:nvGrpSpPr>
        <p:grpSpPr>
          <a:xfrm>
            <a:off x="6780548" y="337714"/>
            <a:ext cx="133252" cy="1952377"/>
            <a:chOff x="6780548" y="337714"/>
            <a:chExt cx="133252" cy="1952377"/>
          </a:xfrm>
        </p:grpSpPr>
        <p:sp>
          <p:nvSpPr>
            <p:cNvPr id="156" name="Google Shape;156;p10"/>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chemeClr val="accent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10"/>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8" name="Google Shape;158;p10"/>
          <p:cNvGrpSpPr/>
          <p:nvPr/>
        </p:nvGrpSpPr>
        <p:grpSpPr>
          <a:xfrm>
            <a:off x="1608717" y="1280046"/>
            <a:ext cx="199237" cy="2828935"/>
            <a:chOff x="1608717" y="1280046"/>
            <a:chExt cx="199237" cy="2828935"/>
          </a:xfrm>
        </p:grpSpPr>
        <p:sp>
          <p:nvSpPr>
            <p:cNvPr id="159" name="Google Shape;159;p10"/>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0"/>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10"/>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2" name="Google Shape;162;p10"/>
          <p:cNvSpPr/>
          <p:nvPr/>
        </p:nvSpPr>
        <p:spPr>
          <a:xfrm>
            <a:off x="2355692" y="3696328"/>
            <a:ext cx="8464" cy="2519663"/>
          </a:xfrm>
          <a:custGeom>
            <a:rect b="b" l="l" r="r" t="t"/>
            <a:pathLst>
              <a:path extrusionOk="0" h="96152" w="323">
                <a:moveTo>
                  <a:pt x="166" y="1"/>
                </a:moveTo>
                <a:lnTo>
                  <a:pt x="1" y="96151"/>
                </a:lnTo>
                <a:lnTo>
                  <a:pt x="322" y="96151"/>
                </a:lnTo>
                <a:lnTo>
                  <a:pt x="16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0"/>
          <p:cNvSpPr/>
          <p:nvPr/>
        </p:nvSpPr>
        <p:spPr>
          <a:xfrm>
            <a:off x="7446601" y="3454956"/>
            <a:ext cx="8464" cy="1689096"/>
          </a:xfrm>
          <a:custGeom>
            <a:rect b="b" l="l" r="r" t="t"/>
            <a:pathLst>
              <a:path extrusionOk="0" h="64457" w="323">
                <a:moveTo>
                  <a:pt x="157" y="1"/>
                </a:moveTo>
                <a:lnTo>
                  <a:pt x="0" y="64456"/>
                </a:lnTo>
                <a:lnTo>
                  <a:pt x="322" y="64456"/>
                </a:lnTo>
                <a:lnTo>
                  <a:pt x="15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4" name="Google Shape;164;p10"/>
          <p:cNvGrpSpPr/>
          <p:nvPr/>
        </p:nvGrpSpPr>
        <p:grpSpPr>
          <a:xfrm>
            <a:off x="8008096" y="2108910"/>
            <a:ext cx="199001" cy="2139770"/>
            <a:chOff x="8008096" y="2108910"/>
            <a:chExt cx="199001" cy="2139770"/>
          </a:xfrm>
        </p:grpSpPr>
        <p:sp>
          <p:nvSpPr>
            <p:cNvPr id="165" name="Google Shape;165;p10"/>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0"/>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7" name="Google Shape;167;p10"/>
          <p:cNvGrpSpPr/>
          <p:nvPr/>
        </p:nvGrpSpPr>
        <p:grpSpPr>
          <a:xfrm>
            <a:off x="4472500" y="3928605"/>
            <a:ext cx="199001" cy="867199"/>
            <a:chOff x="4475150" y="4052605"/>
            <a:chExt cx="199001" cy="867199"/>
          </a:xfrm>
        </p:grpSpPr>
        <p:sp>
          <p:nvSpPr>
            <p:cNvPr id="168" name="Google Shape;168;p10"/>
            <p:cNvSpPr/>
            <p:nvPr/>
          </p:nvSpPr>
          <p:spPr>
            <a:xfrm>
              <a:off x="4475150" y="4052605"/>
              <a:ext cx="199001" cy="220121"/>
            </a:xfrm>
            <a:custGeom>
              <a:rect b="b" l="l" r="r" t="t"/>
              <a:pathLst>
                <a:path extrusionOk="0" h="7593" w="7594">
                  <a:moveTo>
                    <a:pt x="1" y="0"/>
                  </a:moveTo>
                  <a:lnTo>
                    <a:pt x="1" y="7593"/>
                  </a:lnTo>
                  <a:lnTo>
                    <a:pt x="7593" y="7593"/>
                  </a:lnTo>
                  <a:lnTo>
                    <a:pt x="7593"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0"/>
            <p:cNvSpPr/>
            <p:nvPr/>
          </p:nvSpPr>
          <p:spPr>
            <a:xfrm>
              <a:off x="4522600" y="4494201"/>
              <a:ext cx="104095" cy="115148"/>
            </a:xfrm>
            <a:custGeom>
              <a:rect b="b" l="l" r="r" t="t"/>
              <a:pathLst>
                <a:path extrusionOk="0" h="7593" w="7594">
                  <a:moveTo>
                    <a:pt x="1" y="0"/>
                  </a:moveTo>
                  <a:lnTo>
                    <a:pt x="1" y="7593"/>
                  </a:lnTo>
                  <a:lnTo>
                    <a:pt x="7593" y="7593"/>
                  </a:lnTo>
                  <a:lnTo>
                    <a:pt x="7593"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0"/>
            <p:cNvSpPr/>
            <p:nvPr/>
          </p:nvSpPr>
          <p:spPr>
            <a:xfrm>
              <a:off x="4534403" y="4830814"/>
              <a:ext cx="80477" cy="88990"/>
            </a:xfrm>
            <a:custGeom>
              <a:rect b="b" l="l" r="r" t="t"/>
              <a:pathLst>
                <a:path extrusionOk="0" h="7593" w="7594">
                  <a:moveTo>
                    <a:pt x="1" y="0"/>
                  </a:moveTo>
                  <a:lnTo>
                    <a:pt x="1" y="7593"/>
                  </a:lnTo>
                  <a:lnTo>
                    <a:pt x="7593" y="7593"/>
                  </a:lnTo>
                  <a:lnTo>
                    <a:pt x="7593"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1"/>
          <p:cNvSpPr txBox="1"/>
          <p:nvPr>
            <p:ph type="title"/>
          </p:nvPr>
        </p:nvSpPr>
        <p:spPr>
          <a:xfrm>
            <a:off x="1553725" y="158400"/>
            <a:ext cx="5676600" cy="56055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12000"/>
              <a:buNone/>
            </a:pPr>
            <a:r>
              <a:rPr lang="en-US" sz="3200">
                <a:solidFill>
                  <a:srgbClr val="00B0F0"/>
                </a:solidFill>
              </a:rPr>
              <a:t>Background &amp; Motivation</a:t>
            </a:r>
            <a:endParaRPr/>
          </a:p>
        </p:txBody>
      </p:sp>
      <p:sp>
        <p:nvSpPr>
          <p:cNvPr id="176" name="Google Shape;176;p11"/>
          <p:cNvSpPr txBox="1"/>
          <p:nvPr/>
        </p:nvSpPr>
        <p:spPr>
          <a:xfrm>
            <a:off x="817200" y="976512"/>
            <a:ext cx="45720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rgbClr val="00B0F0"/>
                </a:solidFill>
                <a:latin typeface="Share Tech"/>
                <a:ea typeface="Share Tech"/>
                <a:cs typeface="Share Tech"/>
                <a:sym typeface="Share Tech"/>
              </a:rPr>
              <a:t>Background</a:t>
            </a:r>
            <a:endParaRPr/>
          </a:p>
        </p:txBody>
      </p:sp>
      <p:sp>
        <p:nvSpPr>
          <p:cNvPr id="177" name="Google Shape;177;p11"/>
          <p:cNvSpPr txBox="1"/>
          <p:nvPr/>
        </p:nvSpPr>
        <p:spPr>
          <a:xfrm>
            <a:off x="5259600" y="983278"/>
            <a:ext cx="45720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rgbClr val="00B0F0"/>
                </a:solidFill>
                <a:latin typeface="Share Tech"/>
                <a:ea typeface="Share Tech"/>
                <a:cs typeface="Share Tech"/>
                <a:sym typeface="Share Tech"/>
              </a:rPr>
              <a:t>Motivation</a:t>
            </a:r>
            <a:endParaRPr b="0" i="0" sz="1800" u="none" cap="none" strike="noStrike">
              <a:solidFill>
                <a:srgbClr val="000000"/>
              </a:solidFill>
              <a:latin typeface="Share Tech"/>
              <a:ea typeface="Share Tech"/>
              <a:cs typeface="Share Tech"/>
              <a:sym typeface="Share Tech"/>
            </a:endParaRPr>
          </a:p>
        </p:txBody>
      </p:sp>
      <p:sp>
        <p:nvSpPr>
          <p:cNvPr id="178" name="Google Shape;178;p11"/>
          <p:cNvSpPr txBox="1"/>
          <p:nvPr/>
        </p:nvSpPr>
        <p:spPr>
          <a:xfrm>
            <a:off x="752400" y="1541848"/>
            <a:ext cx="4636800" cy="170989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85FFFD"/>
              </a:buClr>
              <a:buSzPts val="1800"/>
              <a:buFont typeface="Noto Sans Symbols"/>
              <a:buChar char="❑"/>
            </a:pPr>
            <a:r>
              <a:rPr b="0" i="0" lang="en-US" sz="1800" u="none" cap="none" strike="noStrike">
                <a:solidFill>
                  <a:srgbClr val="BEFFFE"/>
                </a:solidFill>
                <a:latin typeface="Share Tech"/>
                <a:ea typeface="Share Tech"/>
                <a:cs typeface="Share Tech"/>
                <a:sym typeface="Share Tech"/>
              </a:rPr>
              <a:t>Advancements in Machine Learning Technology</a:t>
            </a:r>
            <a:endParaRPr/>
          </a:p>
          <a:p>
            <a:pPr indent="-285750" lvl="0" marL="285750" marR="0" rtl="0" algn="l">
              <a:lnSpc>
                <a:spcPct val="150000"/>
              </a:lnSpc>
              <a:spcBef>
                <a:spcPts val="0"/>
              </a:spcBef>
              <a:spcAft>
                <a:spcPts val="0"/>
              </a:spcAft>
              <a:buClr>
                <a:srgbClr val="85FFFD"/>
              </a:buClr>
              <a:buSzPts val="1800"/>
              <a:buFont typeface="Noto Sans Symbols"/>
              <a:buChar char="❑"/>
            </a:pPr>
            <a:r>
              <a:rPr b="0" i="0" lang="en-US" sz="1800" u="none" cap="none" strike="noStrike">
                <a:solidFill>
                  <a:srgbClr val="BEFFFE"/>
                </a:solidFill>
                <a:latin typeface="Share Tech"/>
                <a:ea typeface="Share Tech"/>
                <a:cs typeface="Share Tech"/>
                <a:sym typeface="Share Tech"/>
              </a:rPr>
              <a:t>Impact on Agriculture and Economy</a:t>
            </a:r>
            <a:endParaRPr/>
          </a:p>
          <a:p>
            <a:pPr indent="-285750" lvl="0" marL="285750" marR="0" rtl="0" algn="l">
              <a:lnSpc>
                <a:spcPct val="150000"/>
              </a:lnSpc>
              <a:spcBef>
                <a:spcPts val="0"/>
              </a:spcBef>
              <a:spcAft>
                <a:spcPts val="0"/>
              </a:spcAft>
              <a:buClr>
                <a:srgbClr val="85FFFD"/>
              </a:buClr>
              <a:buSzPts val="1800"/>
              <a:buFont typeface="Noto Sans Symbols"/>
              <a:buChar char="❑"/>
            </a:pPr>
            <a:r>
              <a:rPr b="0" i="0" lang="en-US" sz="1800" u="none" cap="none" strike="noStrike">
                <a:solidFill>
                  <a:srgbClr val="BEFFFE"/>
                </a:solidFill>
                <a:latin typeface="Share Tech"/>
                <a:ea typeface="Share Tech"/>
                <a:cs typeface="Share Tech"/>
                <a:sym typeface="Share Tech"/>
              </a:rPr>
              <a:t>Geographical Vulnerability</a:t>
            </a:r>
            <a:endParaRPr b="0" i="0" sz="1800" u="none" cap="none" strike="noStrike">
              <a:solidFill>
                <a:srgbClr val="BEFFFE"/>
              </a:solidFill>
              <a:latin typeface="Share Tech"/>
              <a:ea typeface="Share Tech"/>
              <a:cs typeface="Share Tech"/>
              <a:sym typeface="Share Tech"/>
            </a:endParaRPr>
          </a:p>
        </p:txBody>
      </p:sp>
      <p:sp>
        <p:nvSpPr>
          <p:cNvPr id="179" name="Google Shape;179;p11"/>
          <p:cNvSpPr txBox="1"/>
          <p:nvPr/>
        </p:nvSpPr>
        <p:spPr>
          <a:xfrm>
            <a:off x="5166000" y="1548614"/>
            <a:ext cx="4917600" cy="170989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85FFFD"/>
              </a:buClr>
              <a:buSzPts val="1800"/>
              <a:buFont typeface="Noto Sans Symbols"/>
              <a:buChar char="❑"/>
            </a:pPr>
            <a:r>
              <a:rPr b="1" i="0" lang="en-US" sz="1800" u="none" cap="none" strike="noStrike">
                <a:solidFill>
                  <a:srgbClr val="BEFFFE"/>
                </a:solidFill>
                <a:latin typeface="Share Tech"/>
                <a:ea typeface="Share Tech"/>
                <a:cs typeface="Share Tech"/>
                <a:sym typeface="Share Tech"/>
              </a:rPr>
              <a:t>Reduce Economic Losses</a:t>
            </a:r>
            <a:endParaRPr/>
          </a:p>
          <a:p>
            <a:pPr indent="-285750" lvl="0" marL="285750" marR="0" rtl="0" algn="l">
              <a:lnSpc>
                <a:spcPct val="150000"/>
              </a:lnSpc>
              <a:spcBef>
                <a:spcPts val="0"/>
              </a:spcBef>
              <a:spcAft>
                <a:spcPts val="0"/>
              </a:spcAft>
              <a:buClr>
                <a:srgbClr val="85FFFD"/>
              </a:buClr>
              <a:buSzPts val="1800"/>
              <a:buFont typeface="Noto Sans Symbols"/>
              <a:buChar char="❑"/>
            </a:pPr>
            <a:r>
              <a:rPr b="1" i="0" lang="en-US" sz="1800" u="none" cap="none" strike="noStrike">
                <a:solidFill>
                  <a:srgbClr val="BEFFFE"/>
                </a:solidFill>
                <a:latin typeface="Share Tech"/>
                <a:ea typeface="Share Tech"/>
                <a:cs typeface="Share Tech"/>
                <a:sym typeface="Share Tech"/>
              </a:rPr>
              <a:t>Improve Disaster Preparedness</a:t>
            </a:r>
            <a:endParaRPr/>
          </a:p>
          <a:p>
            <a:pPr indent="-285750" lvl="0" marL="285750" marR="0" rtl="0" algn="l">
              <a:lnSpc>
                <a:spcPct val="150000"/>
              </a:lnSpc>
              <a:spcBef>
                <a:spcPts val="0"/>
              </a:spcBef>
              <a:spcAft>
                <a:spcPts val="0"/>
              </a:spcAft>
              <a:buClr>
                <a:srgbClr val="85FFFD"/>
              </a:buClr>
              <a:buSzPts val="1800"/>
              <a:buFont typeface="Noto Sans Symbols"/>
              <a:buChar char="❑"/>
            </a:pPr>
            <a:r>
              <a:rPr b="1" i="0" lang="en-US" sz="1800" u="none" cap="none" strike="noStrike">
                <a:solidFill>
                  <a:srgbClr val="BEFFFE"/>
                </a:solidFill>
                <a:latin typeface="Share Tech"/>
                <a:ea typeface="Share Tech"/>
                <a:cs typeface="Share Tech"/>
                <a:sym typeface="Share Tech"/>
              </a:rPr>
              <a:t>Save Lives</a:t>
            </a:r>
            <a:r>
              <a:rPr b="0" i="0" lang="en-US" sz="1800" u="none" cap="none" strike="noStrike">
                <a:solidFill>
                  <a:srgbClr val="BEFFFE"/>
                </a:solidFill>
                <a:latin typeface="Share Tech"/>
                <a:ea typeface="Share Tech"/>
                <a:cs typeface="Share Tech"/>
                <a:sym typeface="Share Tech"/>
              </a:rPr>
              <a:t>:</a:t>
            </a:r>
            <a:endParaRPr b="1" i="0" sz="1800" u="none" cap="none" strike="noStrike">
              <a:solidFill>
                <a:srgbClr val="BEFFFE"/>
              </a:solidFill>
              <a:latin typeface="Share Tech"/>
              <a:ea typeface="Share Tech"/>
              <a:cs typeface="Share Tech"/>
              <a:sym typeface="Share Tech"/>
            </a:endParaRPr>
          </a:p>
          <a:p>
            <a:pPr indent="-285750" lvl="0" marL="285750" marR="0" rtl="0" algn="l">
              <a:lnSpc>
                <a:spcPct val="150000"/>
              </a:lnSpc>
              <a:spcBef>
                <a:spcPts val="0"/>
              </a:spcBef>
              <a:spcAft>
                <a:spcPts val="0"/>
              </a:spcAft>
              <a:buClr>
                <a:srgbClr val="85FFFD"/>
              </a:buClr>
              <a:buSzPts val="1800"/>
              <a:buFont typeface="Noto Sans Symbols"/>
              <a:buChar char="❑"/>
            </a:pPr>
            <a:r>
              <a:rPr b="1" i="0" lang="en-US" sz="1800" u="none" cap="none" strike="noStrike">
                <a:solidFill>
                  <a:srgbClr val="BEFFFE"/>
                </a:solidFill>
                <a:latin typeface="Share Tech"/>
                <a:ea typeface="Share Tech"/>
                <a:cs typeface="Share Tech"/>
                <a:sym typeface="Share Tech"/>
              </a:rPr>
              <a:t>Advance Scientific Research</a:t>
            </a:r>
            <a:endParaRPr b="0" i="0" sz="1800" u="none" cap="none" strike="noStrike">
              <a:solidFill>
                <a:srgbClr val="BEFFFE"/>
              </a:solidFill>
              <a:latin typeface="Share Tech"/>
              <a:ea typeface="Share Tech"/>
              <a:cs typeface="Share Tech"/>
              <a:sym typeface="Share Tech"/>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2"/>
          <p:cNvSpPr txBox="1"/>
          <p:nvPr>
            <p:ph type="ctrTitle"/>
          </p:nvPr>
        </p:nvSpPr>
        <p:spPr>
          <a:xfrm>
            <a:off x="2922825" y="130875"/>
            <a:ext cx="4727700" cy="577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rgbClr val="000000"/>
              </a:buClr>
              <a:buSzPts val="3600"/>
              <a:buNone/>
            </a:pPr>
            <a:r>
              <a:rPr lang="en-US"/>
              <a:t>Literature Survey</a:t>
            </a:r>
            <a:endParaRPr/>
          </a:p>
        </p:txBody>
      </p:sp>
      <p:sp>
        <p:nvSpPr>
          <p:cNvPr id="185" name="Google Shape;185;p12"/>
          <p:cNvSpPr txBox="1"/>
          <p:nvPr/>
        </p:nvSpPr>
        <p:spPr>
          <a:xfrm>
            <a:off x="410400" y="850638"/>
            <a:ext cx="4125600" cy="172111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n-US" sz="1200" u="none" cap="none" strike="noStrike">
                <a:solidFill>
                  <a:schemeClr val="lt1"/>
                </a:solidFill>
                <a:latin typeface="Times New Roman"/>
                <a:ea typeface="Times New Roman"/>
                <a:cs typeface="Times New Roman"/>
                <a:sym typeface="Times New Roman"/>
              </a:rPr>
              <a:t>Noushin and her crew [1] predicted flood using machine learning algorithms. They chose theweather data of Bangladesh for 65 years taken from Kaggle dataset. In their dataset the total number of instances was 20543. They used the k-Nearest Neighbors Algorithm and gave them a maximum accuracy of 94.91.</a:t>
            </a:r>
            <a:endParaRPr/>
          </a:p>
        </p:txBody>
      </p:sp>
      <p:sp>
        <p:nvSpPr>
          <p:cNvPr id="186" name="Google Shape;186;p12"/>
          <p:cNvSpPr/>
          <p:nvPr/>
        </p:nvSpPr>
        <p:spPr>
          <a:xfrm>
            <a:off x="2081400" y="610918"/>
            <a:ext cx="478800" cy="295200"/>
          </a:xfrm>
          <a:prstGeom prst="rect">
            <a:avLst/>
          </a:prstGeom>
          <a:solidFill>
            <a:srgbClr val="009B99"/>
          </a:solidFill>
          <a:ln cap="flat" cmpd="sng" w="25400">
            <a:solidFill>
              <a:srgbClr val="1244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01</a:t>
            </a:r>
            <a:endParaRPr/>
          </a:p>
        </p:txBody>
      </p:sp>
      <p:sp>
        <p:nvSpPr>
          <p:cNvPr id="187" name="Google Shape;187;p12"/>
          <p:cNvSpPr/>
          <p:nvPr/>
        </p:nvSpPr>
        <p:spPr>
          <a:xfrm>
            <a:off x="6967200" y="612000"/>
            <a:ext cx="478800" cy="283920"/>
          </a:xfrm>
          <a:prstGeom prst="rect">
            <a:avLst/>
          </a:prstGeom>
          <a:solidFill>
            <a:srgbClr val="009B99"/>
          </a:solidFill>
          <a:ln cap="flat" cmpd="sng" w="25400">
            <a:solidFill>
              <a:srgbClr val="1244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02</a:t>
            </a:r>
            <a:endParaRPr/>
          </a:p>
        </p:txBody>
      </p:sp>
      <p:sp>
        <p:nvSpPr>
          <p:cNvPr id="188" name="Google Shape;188;p12"/>
          <p:cNvSpPr/>
          <p:nvPr/>
        </p:nvSpPr>
        <p:spPr>
          <a:xfrm>
            <a:off x="2173200" y="2571750"/>
            <a:ext cx="478800" cy="295200"/>
          </a:xfrm>
          <a:prstGeom prst="rect">
            <a:avLst/>
          </a:prstGeom>
          <a:solidFill>
            <a:srgbClr val="009B99"/>
          </a:solidFill>
          <a:ln cap="flat" cmpd="sng" w="25400">
            <a:solidFill>
              <a:srgbClr val="1244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03</a:t>
            </a:r>
            <a:endParaRPr/>
          </a:p>
        </p:txBody>
      </p:sp>
      <p:sp>
        <p:nvSpPr>
          <p:cNvPr id="189" name="Google Shape;189;p12"/>
          <p:cNvSpPr txBox="1"/>
          <p:nvPr/>
        </p:nvSpPr>
        <p:spPr>
          <a:xfrm>
            <a:off x="446400" y="2866950"/>
            <a:ext cx="4053600" cy="1998111"/>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n-US" sz="1200" u="none" cap="none" strike="noStrike">
                <a:solidFill>
                  <a:schemeClr val="lt1"/>
                </a:solidFill>
                <a:latin typeface="Times New Roman"/>
                <a:ea typeface="Times New Roman"/>
                <a:cs typeface="Times New Roman"/>
                <a:sym typeface="Times New Roman"/>
              </a:rPr>
              <a:t>Anil and his crew predicted flood using machine learning models. They have used xgboost , Logistic Regression(LR), Decision Tree(DT), and KNN algorithms.By training the model they got accracy of xgboost(.993) , Logistic Regression(.987), Decision Tree(.993), and KNN algorithms(.987).They got height accuracy by using xgboost which is 99.3%.</a:t>
            </a:r>
            <a:endParaRPr/>
          </a:p>
        </p:txBody>
      </p:sp>
      <p:sp>
        <p:nvSpPr>
          <p:cNvPr id="190" name="Google Shape;190;p12"/>
          <p:cNvSpPr txBox="1"/>
          <p:nvPr/>
        </p:nvSpPr>
        <p:spPr>
          <a:xfrm>
            <a:off x="4672801" y="826343"/>
            <a:ext cx="4362000" cy="227511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n-US" sz="1200" u="none" cap="none" strike="noStrike">
                <a:solidFill>
                  <a:schemeClr val="lt1"/>
                </a:solidFill>
                <a:latin typeface="Times New Roman"/>
                <a:ea typeface="Times New Roman"/>
                <a:cs typeface="Times New Roman"/>
                <a:sym typeface="Times New Roman"/>
              </a:rPr>
              <a:t>Rajab and her groupmate [2] predicted Flood Forecasting using machine learning algorithms. They had chosen data from 1948 to 2013, the dataset includes comprehensive monthly averages for Bangladesh that are area-specific for maximum temperature, minimum temperature, rainfall, relative humidity, wind speed, cloud cover, and brilliant sunshine dataset. In their dataset that can be found in which consists of 21,120 records. They used k-Nearest Neighbors Algorithm, and gave them a maximum accuracy of 89.2.</a:t>
            </a:r>
            <a:endParaRPr/>
          </a:p>
        </p:txBody>
      </p:sp>
      <p:sp>
        <p:nvSpPr>
          <p:cNvPr id="191" name="Google Shape;191;p12"/>
          <p:cNvSpPr txBox="1"/>
          <p:nvPr/>
        </p:nvSpPr>
        <p:spPr>
          <a:xfrm>
            <a:off x="4672801" y="3359802"/>
            <a:ext cx="4304402" cy="172111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n-US" sz="1200" u="none" cap="none" strike="noStrike">
                <a:solidFill>
                  <a:schemeClr val="lt1"/>
                </a:solidFill>
                <a:latin typeface="Times New Roman"/>
                <a:ea typeface="Times New Roman"/>
                <a:cs typeface="Times New Roman"/>
                <a:sym typeface="Times New Roman"/>
              </a:rPr>
              <a:t>Kruti and her team[4] developed a flood prediction system which used various machine learning algorithms.They collected the dataset from f Bihar and Orissa from 1992-2002.They have used  Decision Tree Algorithm, Gradient Boost Algorithm, Random Forest Algorithm.Among this model they got height accuracy form Decision Tree Algorithm which was 94.4%.</a:t>
            </a:r>
            <a:endParaRPr/>
          </a:p>
        </p:txBody>
      </p:sp>
      <p:sp>
        <p:nvSpPr>
          <p:cNvPr id="192" name="Google Shape;192;p12"/>
          <p:cNvSpPr/>
          <p:nvPr/>
        </p:nvSpPr>
        <p:spPr>
          <a:xfrm>
            <a:off x="6853801" y="3101901"/>
            <a:ext cx="478800" cy="295200"/>
          </a:xfrm>
          <a:prstGeom prst="rect">
            <a:avLst/>
          </a:prstGeom>
          <a:solidFill>
            <a:srgbClr val="009B99"/>
          </a:solidFill>
          <a:ln cap="flat" cmpd="sng" w="25400">
            <a:solidFill>
              <a:srgbClr val="1244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04</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3"/>
          <p:cNvSpPr txBox="1"/>
          <p:nvPr/>
        </p:nvSpPr>
        <p:spPr>
          <a:xfrm>
            <a:off x="3416400" y="206112"/>
            <a:ext cx="457200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200" u="none" cap="none" strike="noStrike">
                <a:solidFill>
                  <a:srgbClr val="49FEFC"/>
                </a:solidFill>
                <a:latin typeface="Share Tech"/>
                <a:ea typeface="Share Tech"/>
                <a:cs typeface="Share Tech"/>
                <a:sym typeface="Share Tech"/>
              </a:rPr>
              <a:t>Methodology</a:t>
            </a:r>
            <a:endParaRPr/>
          </a:p>
        </p:txBody>
      </p:sp>
      <p:sp>
        <p:nvSpPr>
          <p:cNvPr id="198" name="Google Shape;198;p13"/>
          <p:cNvSpPr txBox="1"/>
          <p:nvPr/>
        </p:nvSpPr>
        <p:spPr>
          <a:xfrm>
            <a:off x="1054800" y="790887"/>
            <a:ext cx="4572000" cy="1160831"/>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lt1"/>
              </a:buClr>
              <a:buSzPts val="1600"/>
              <a:buFont typeface="Noto Sans Symbols"/>
              <a:buChar char="❑"/>
            </a:pPr>
            <a:r>
              <a:rPr b="0" i="0" lang="en-US" sz="1600" u="none" cap="none" strike="noStrike">
                <a:solidFill>
                  <a:srgbClr val="F2F2F2"/>
                </a:solidFill>
                <a:latin typeface="Share Tech"/>
                <a:ea typeface="Share Tech"/>
                <a:cs typeface="Share Tech"/>
                <a:sym typeface="Share Tech"/>
              </a:rPr>
              <a:t>Comprehensive Data Source </a:t>
            </a:r>
            <a:endParaRPr/>
          </a:p>
          <a:p>
            <a:pPr indent="-285750" lvl="0" marL="285750" marR="0" rtl="0" algn="l">
              <a:lnSpc>
                <a:spcPct val="150000"/>
              </a:lnSpc>
              <a:spcBef>
                <a:spcPts val="0"/>
              </a:spcBef>
              <a:spcAft>
                <a:spcPts val="0"/>
              </a:spcAft>
              <a:buClr>
                <a:schemeClr val="lt1"/>
              </a:buClr>
              <a:buSzPts val="1600"/>
              <a:buFont typeface="Noto Sans Symbols"/>
              <a:buChar char="❑"/>
            </a:pPr>
            <a:r>
              <a:rPr b="0" i="0" lang="en-US" sz="1600" u="none" cap="none" strike="noStrike">
                <a:solidFill>
                  <a:srgbClr val="F2F2F2"/>
                </a:solidFill>
                <a:latin typeface="Share Tech"/>
                <a:ea typeface="Share Tech"/>
                <a:cs typeface="Share Tech"/>
                <a:sym typeface="Share Tech"/>
              </a:rPr>
              <a:t>Rich Feature Set  </a:t>
            </a:r>
            <a:endParaRPr/>
          </a:p>
          <a:p>
            <a:pPr indent="-285750" lvl="0" marL="285750" marR="0" rtl="0" algn="l">
              <a:lnSpc>
                <a:spcPct val="150000"/>
              </a:lnSpc>
              <a:spcBef>
                <a:spcPts val="0"/>
              </a:spcBef>
              <a:spcAft>
                <a:spcPts val="0"/>
              </a:spcAft>
              <a:buClr>
                <a:schemeClr val="lt1"/>
              </a:buClr>
              <a:buSzPts val="1600"/>
              <a:buFont typeface="Noto Sans Symbols"/>
              <a:buChar char="❑"/>
            </a:pPr>
            <a:r>
              <a:rPr b="0" i="0" lang="en-US" sz="1600" u="none" cap="none" strike="noStrike">
                <a:solidFill>
                  <a:srgbClr val="F2F2F2"/>
                </a:solidFill>
                <a:latin typeface="Share Tech"/>
                <a:ea typeface="Share Tech"/>
                <a:cs typeface="Share Tech"/>
                <a:sym typeface="Share Tech"/>
              </a:rPr>
              <a:t>Reliable Data Repository</a:t>
            </a:r>
            <a:endParaRPr/>
          </a:p>
        </p:txBody>
      </p:sp>
      <p:pic>
        <p:nvPicPr>
          <p:cNvPr id="199" name="Google Shape;199;p13"/>
          <p:cNvPicPr preferRelativeResize="0"/>
          <p:nvPr/>
        </p:nvPicPr>
        <p:blipFill rotWithShape="1">
          <a:blip r:embed="rId3">
            <a:alphaModFix/>
          </a:blip>
          <a:srcRect b="0" l="0" r="0" t="0"/>
          <a:stretch/>
        </p:blipFill>
        <p:spPr>
          <a:xfrm>
            <a:off x="1122246" y="1951718"/>
            <a:ext cx="7359354" cy="2729302"/>
          </a:xfrm>
          <a:prstGeom prst="rect">
            <a:avLst/>
          </a:prstGeom>
          <a:noFill/>
          <a:ln>
            <a:noFill/>
          </a:ln>
        </p:spPr>
      </p:pic>
      <p:sp>
        <p:nvSpPr>
          <p:cNvPr id="200" name="Google Shape;200;p13"/>
          <p:cNvSpPr txBox="1"/>
          <p:nvPr/>
        </p:nvSpPr>
        <p:spPr>
          <a:xfrm>
            <a:off x="1459322" y="4693608"/>
            <a:ext cx="702227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C2FFFD"/>
                </a:solidFill>
                <a:latin typeface="Share Tech"/>
                <a:ea typeface="Share Tech"/>
                <a:cs typeface="Share Tech"/>
                <a:sym typeface="Share Tech"/>
              </a:rPr>
              <a:t>Figure 01. A concise summary of the dataset of the Flood Prediction Using Various ML model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4"/>
          <p:cNvSpPr txBox="1"/>
          <p:nvPr/>
        </p:nvSpPr>
        <p:spPr>
          <a:xfrm>
            <a:off x="824400" y="368112"/>
            <a:ext cx="774000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6FFFB"/>
                </a:solidFill>
                <a:latin typeface="Share Tech"/>
                <a:ea typeface="Share Tech"/>
                <a:cs typeface="Share Tech"/>
                <a:sym typeface="Share Tech"/>
              </a:rPr>
              <a:t>Techniques used for Hyperparameter Tuning </a:t>
            </a:r>
            <a:endParaRPr/>
          </a:p>
        </p:txBody>
      </p:sp>
      <p:sp>
        <p:nvSpPr>
          <p:cNvPr id="206" name="Google Shape;206;p14"/>
          <p:cNvSpPr txBox="1"/>
          <p:nvPr/>
        </p:nvSpPr>
        <p:spPr>
          <a:xfrm>
            <a:off x="824400" y="1138512"/>
            <a:ext cx="46440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49FEFC"/>
                </a:solidFill>
                <a:latin typeface="Share Tech"/>
                <a:ea typeface="Share Tech"/>
                <a:cs typeface="Share Tech"/>
                <a:sym typeface="Share Tech"/>
              </a:rPr>
              <a:t>Feature Scaling</a:t>
            </a:r>
            <a:endParaRPr/>
          </a:p>
        </p:txBody>
      </p:sp>
      <p:sp>
        <p:nvSpPr>
          <p:cNvPr id="207" name="Google Shape;207;p14"/>
          <p:cNvSpPr txBox="1"/>
          <p:nvPr/>
        </p:nvSpPr>
        <p:spPr>
          <a:xfrm>
            <a:off x="824400" y="1539580"/>
            <a:ext cx="4644000" cy="129439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D2F0FE"/>
              </a:buClr>
              <a:buSzPts val="1800"/>
              <a:buFont typeface="Noto Sans Symbols"/>
              <a:buChar char="❑"/>
            </a:pPr>
            <a:r>
              <a:rPr b="0" i="0" lang="en-US" sz="1800" u="none" cap="none" strike="noStrike">
                <a:solidFill>
                  <a:srgbClr val="D2F0FE"/>
                </a:solidFill>
                <a:latin typeface="Share Tech"/>
                <a:ea typeface="Share Tech"/>
                <a:cs typeface="Share Tech"/>
                <a:sym typeface="Share Tech"/>
              </a:rPr>
              <a:t>Replace null values with mean</a:t>
            </a:r>
            <a:endParaRPr/>
          </a:p>
          <a:p>
            <a:pPr indent="-285750" lvl="0" marL="285750" marR="0" rtl="0" algn="l">
              <a:lnSpc>
                <a:spcPct val="150000"/>
              </a:lnSpc>
              <a:spcBef>
                <a:spcPts val="0"/>
              </a:spcBef>
              <a:spcAft>
                <a:spcPts val="0"/>
              </a:spcAft>
              <a:buClr>
                <a:srgbClr val="D2F0FE"/>
              </a:buClr>
              <a:buSzPts val="1800"/>
              <a:buFont typeface="Noto Sans Symbols"/>
              <a:buChar char="❑"/>
            </a:pPr>
            <a:r>
              <a:rPr b="0" i="0" lang="en-US" sz="1800" u="none" cap="none" strike="noStrike">
                <a:solidFill>
                  <a:srgbClr val="D2F0FE"/>
                </a:solidFill>
                <a:latin typeface="Share Tech"/>
                <a:ea typeface="Share Tech"/>
                <a:cs typeface="Share Tech"/>
                <a:sym typeface="Share Tech"/>
              </a:rPr>
              <a:t>Using label encoder</a:t>
            </a:r>
            <a:endParaRPr/>
          </a:p>
          <a:p>
            <a:pPr indent="-285750" lvl="0" marL="285750" marR="0" rtl="0" algn="l">
              <a:lnSpc>
                <a:spcPct val="150000"/>
              </a:lnSpc>
              <a:spcBef>
                <a:spcPts val="0"/>
              </a:spcBef>
              <a:spcAft>
                <a:spcPts val="0"/>
              </a:spcAft>
              <a:buClr>
                <a:srgbClr val="D2F0FE"/>
              </a:buClr>
              <a:buSzPts val="1800"/>
              <a:buFont typeface="Noto Sans Symbols"/>
              <a:buChar char="❑"/>
            </a:pPr>
            <a:r>
              <a:rPr b="0" i="0" lang="en-US" sz="1800" u="none" cap="none" strike="noStrike">
                <a:solidFill>
                  <a:srgbClr val="D2F0FE"/>
                </a:solidFill>
                <a:latin typeface="Share Tech"/>
                <a:ea typeface="Share Tech"/>
                <a:cs typeface="Share Tech"/>
                <a:sym typeface="Share Tech"/>
              </a:rPr>
              <a:t>Min max scaler</a:t>
            </a:r>
            <a:endParaRPr/>
          </a:p>
        </p:txBody>
      </p:sp>
      <p:sp>
        <p:nvSpPr>
          <p:cNvPr id="208" name="Google Shape;208;p14"/>
          <p:cNvSpPr txBox="1"/>
          <p:nvPr/>
        </p:nvSpPr>
        <p:spPr>
          <a:xfrm>
            <a:off x="824400" y="3059815"/>
            <a:ext cx="46440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49FEFC"/>
                </a:solidFill>
                <a:latin typeface="Share Tech"/>
                <a:ea typeface="Share Tech"/>
                <a:cs typeface="Share Tech"/>
                <a:sym typeface="Share Tech"/>
              </a:rPr>
              <a:t>GridSearch CV</a:t>
            </a:r>
            <a:endParaRPr/>
          </a:p>
        </p:txBody>
      </p:sp>
      <p:sp>
        <p:nvSpPr>
          <p:cNvPr id="209" name="Google Shape;209;p14"/>
          <p:cNvSpPr txBox="1"/>
          <p:nvPr/>
        </p:nvSpPr>
        <p:spPr>
          <a:xfrm>
            <a:off x="824400" y="3681822"/>
            <a:ext cx="4230000" cy="646331"/>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D2F0FE"/>
              </a:buClr>
              <a:buSzPts val="1800"/>
              <a:buFont typeface="Noto Sans Symbols"/>
              <a:buChar char="❑"/>
            </a:pPr>
            <a:r>
              <a:rPr b="0" i="0" lang="en-US" sz="1800" u="none" cap="none" strike="noStrike">
                <a:solidFill>
                  <a:srgbClr val="D2F0FE"/>
                </a:solidFill>
                <a:latin typeface="Arial"/>
                <a:ea typeface="Arial"/>
                <a:cs typeface="Arial"/>
                <a:sym typeface="Arial"/>
              </a:rPr>
              <a:t>Used to fine tune the Hyperparameters</a:t>
            </a:r>
            <a:endParaRPr/>
          </a:p>
        </p:txBody>
      </p:sp>
      <p:sp>
        <p:nvSpPr>
          <p:cNvPr id="210" name="Google Shape;210;p14"/>
          <p:cNvSpPr txBox="1"/>
          <p:nvPr/>
        </p:nvSpPr>
        <p:spPr>
          <a:xfrm>
            <a:off x="5468400" y="1185158"/>
            <a:ext cx="289270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49FEFC"/>
                </a:solidFill>
                <a:latin typeface="Share Tech"/>
                <a:ea typeface="Share Tech"/>
                <a:cs typeface="Share Tech"/>
                <a:sym typeface="Share Tech"/>
              </a:rPr>
              <a:t>Hold-Out Validate </a:t>
            </a:r>
            <a:endParaRPr/>
          </a:p>
        </p:txBody>
      </p:sp>
      <p:sp>
        <p:nvSpPr>
          <p:cNvPr id="211" name="Google Shape;211;p14"/>
          <p:cNvSpPr txBox="1"/>
          <p:nvPr/>
        </p:nvSpPr>
        <p:spPr>
          <a:xfrm>
            <a:off x="5468400" y="1640148"/>
            <a:ext cx="2892702" cy="646331"/>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D2F0FE"/>
              </a:buClr>
              <a:buSzPts val="1800"/>
              <a:buFont typeface="Noto Sans Symbols"/>
              <a:buChar char="❑"/>
            </a:pPr>
            <a:r>
              <a:rPr b="0" i="0" lang="en-US" sz="1800" u="none" cap="none" strike="noStrike">
                <a:solidFill>
                  <a:srgbClr val="D2F0FE"/>
                </a:solidFill>
                <a:latin typeface="Share Tech"/>
                <a:ea typeface="Share Tech"/>
                <a:cs typeface="Share Tech"/>
                <a:sym typeface="Share Tech"/>
              </a:rPr>
              <a:t>Training &amp; Testing dataset split </a:t>
            </a:r>
            <a:endParaRPr/>
          </a:p>
        </p:txBody>
      </p:sp>
      <p:sp>
        <p:nvSpPr>
          <p:cNvPr id="212" name="Google Shape;212;p14"/>
          <p:cNvSpPr txBox="1"/>
          <p:nvPr/>
        </p:nvSpPr>
        <p:spPr>
          <a:xfrm>
            <a:off x="5468400" y="2973986"/>
            <a:ext cx="341353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49FEFC"/>
                </a:solidFill>
                <a:latin typeface="Share Tech"/>
                <a:ea typeface="Share Tech"/>
                <a:cs typeface="Share Tech"/>
                <a:sym typeface="Share Tech"/>
              </a:rPr>
              <a:t>Randomized Search CV</a:t>
            </a:r>
            <a:endParaRPr/>
          </a:p>
        </p:txBody>
      </p:sp>
      <p:sp>
        <p:nvSpPr>
          <p:cNvPr id="213" name="Google Shape;213;p14"/>
          <p:cNvSpPr txBox="1"/>
          <p:nvPr/>
        </p:nvSpPr>
        <p:spPr>
          <a:xfrm>
            <a:off x="5500800" y="3521480"/>
            <a:ext cx="3467444" cy="646331"/>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D2F0FE"/>
              </a:buClr>
              <a:buSzPts val="1800"/>
              <a:buFont typeface="Noto Sans Symbols"/>
              <a:buChar char="❑"/>
            </a:pPr>
            <a:r>
              <a:rPr b="0" i="0" lang="en-US" sz="1800" u="none" cap="none" strike="noStrike">
                <a:solidFill>
                  <a:srgbClr val="D2F0FE"/>
                </a:solidFill>
                <a:latin typeface="Arial"/>
                <a:ea typeface="Arial"/>
                <a:cs typeface="Arial"/>
                <a:sym typeface="Arial"/>
              </a:rPr>
              <a:t>Used to fine tune the Hyperparameters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5"/>
          <p:cNvSpPr txBox="1"/>
          <p:nvPr/>
        </p:nvSpPr>
        <p:spPr>
          <a:xfrm>
            <a:off x="2221200" y="62112"/>
            <a:ext cx="45720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rgbClr val="06FFFB"/>
                </a:solidFill>
                <a:latin typeface="Share Tech"/>
                <a:ea typeface="Share Tech"/>
                <a:cs typeface="Share Tech"/>
                <a:sym typeface="Share Tech"/>
              </a:rPr>
              <a:t>Flow Chart Diagram | Projected Plan</a:t>
            </a:r>
            <a:endParaRPr/>
          </a:p>
        </p:txBody>
      </p:sp>
      <p:pic>
        <p:nvPicPr>
          <p:cNvPr id="219" name="Google Shape;219;p15"/>
          <p:cNvPicPr preferRelativeResize="0"/>
          <p:nvPr/>
        </p:nvPicPr>
        <p:blipFill rotWithShape="1">
          <a:blip r:embed="rId3">
            <a:alphaModFix/>
          </a:blip>
          <a:srcRect b="0" l="0" r="0" t="0"/>
          <a:stretch/>
        </p:blipFill>
        <p:spPr>
          <a:xfrm>
            <a:off x="1843200" y="606576"/>
            <a:ext cx="5133599" cy="3785423"/>
          </a:xfrm>
          <a:prstGeom prst="rect">
            <a:avLst/>
          </a:prstGeom>
          <a:noFill/>
          <a:ln>
            <a:noFill/>
          </a:ln>
        </p:spPr>
      </p:pic>
      <p:sp>
        <p:nvSpPr>
          <p:cNvPr id="220" name="Google Shape;220;p15"/>
          <p:cNvSpPr txBox="1"/>
          <p:nvPr/>
        </p:nvSpPr>
        <p:spPr>
          <a:xfrm>
            <a:off x="1717199" y="4552248"/>
            <a:ext cx="55800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C2FFFD"/>
                </a:solidFill>
                <a:latin typeface="Arial"/>
                <a:ea typeface="Arial"/>
                <a:cs typeface="Arial"/>
                <a:sym typeface="Arial"/>
              </a:rPr>
              <a:t>Figure 02: Flow chart of  Flood Prediction Using Various ML model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6"/>
          <p:cNvSpPr txBox="1"/>
          <p:nvPr/>
        </p:nvSpPr>
        <p:spPr>
          <a:xfrm>
            <a:off x="2833200" y="112512"/>
            <a:ext cx="31572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rgbClr val="06FFFB"/>
                </a:solidFill>
                <a:latin typeface="Share Tech"/>
                <a:ea typeface="Share Tech"/>
                <a:cs typeface="Share Tech"/>
                <a:sym typeface="Share Tech"/>
              </a:rPr>
              <a:t>Result &amp; Discussion </a:t>
            </a:r>
            <a:endParaRPr/>
          </a:p>
        </p:txBody>
      </p:sp>
      <p:pic>
        <p:nvPicPr>
          <p:cNvPr id="226" name="Google Shape;226;p16"/>
          <p:cNvPicPr preferRelativeResize="0"/>
          <p:nvPr/>
        </p:nvPicPr>
        <p:blipFill rotWithShape="1">
          <a:blip r:embed="rId3">
            <a:alphaModFix/>
          </a:blip>
          <a:srcRect b="0" l="0" r="0" t="0"/>
          <a:stretch/>
        </p:blipFill>
        <p:spPr>
          <a:xfrm>
            <a:off x="216433" y="747935"/>
            <a:ext cx="3995567" cy="3575952"/>
          </a:xfrm>
          <a:prstGeom prst="rect">
            <a:avLst/>
          </a:prstGeom>
          <a:noFill/>
          <a:ln>
            <a:noFill/>
          </a:ln>
        </p:spPr>
      </p:pic>
      <p:pic>
        <p:nvPicPr>
          <p:cNvPr id="227" name="Google Shape;227;p16"/>
          <p:cNvPicPr preferRelativeResize="0"/>
          <p:nvPr/>
        </p:nvPicPr>
        <p:blipFill rotWithShape="1">
          <a:blip r:embed="rId4">
            <a:alphaModFix/>
          </a:blip>
          <a:srcRect b="0" l="0" r="0" t="0"/>
          <a:stretch/>
        </p:blipFill>
        <p:spPr>
          <a:xfrm>
            <a:off x="4732073" y="747935"/>
            <a:ext cx="4134729" cy="3575952"/>
          </a:xfrm>
          <a:prstGeom prst="rect">
            <a:avLst/>
          </a:prstGeom>
          <a:noFill/>
          <a:ln>
            <a:noFill/>
          </a:ln>
        </p:spPr>
      </p:pic>
      <p:sp>
        <p:nvSpPr>
          <p:cNvPr id="228" name="Google Shape;228;p16"/>
          <p:cNvSpPr txBox="1"/>
          <p:nvPr/>
        </p:nvSpPr>
        <p:spPr>
          <a:xfrm>
            <a:off x="246816" y="4395565"/>
            <a:ext cx="39348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6FFFB"/>
                </a:solidFill>
                <a:latin typeface="Share Tech"/>
                <a:ea typeface="Share Tech"/>
                <a:cs typeface="Share Tech"/>
                <a:sym typeface="Share Tech"/>
              </a:rPr>
              <a:t>Figure 03. Scatterplot of Cloud_Coverage against Flood using Seaborn</a:t>
            </a:r>
            <a:endParaRPr/>
          </a:p>
        </p:txBody>
      </p:sp>
      <p:sp>
        <p:nvSpPr>
          <p:cNvPr id="229" name="Google Shape;229;p16"/>
          <p:cNvSpPr txBox="1"/>
          <p:nvPr/>
        </p:nvSpPr>
        <p:spPr>
          <a:xfrm>
            <a:off x="4932002" y="4395565"/>
            <a:ext cx="39348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6FFFB"/>
                </a:solidFill>
                <a:latin typeface="Share Tech"/>
                <a:ea typeface="Share Tech"/>
                <a:cs typeface="Share Tech"/>
                <a:sym typeface="Share Tech"/>
              </a:rPr>
              <a:t>Figure 04. Scatterplot of Bright_Sunshine  against Flood using Seaborn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17"/>
          <p:cNvPicPr preferRelativeResize="0"/>
          <p:nvPr/>
        </p:nvPicPr>
        <p:blipFill rotWithShape="1">
          <a:blip r:embed="rId3">
            <a:alphaModFix/>
          </a:blip>
          <a:srcRect b="0" l="0" r="0" t="0"/>
          <a:stretch/>
        </p:blipFill>
        <p:spPr>
          <a:xfrm>
            <a:off x="437060" y="505538"/>
            <a:ext cx="3918940" cy="3670461"/>
          </a:xfrm>
          <a:prstGeom prst="rect">
            <a:avLst/>
          </a:prstGeom>
          <a:noFill/>
          <a:ln>
            <a:noFill/>
          </a:ln>
        </p:spPr>
      </p:pic>
      <p:pic>
        <p:nvPicPr>
          <p:cNvPr id="235" name="Google Shape;235;p17"/>
          <p:cNvPicPr preferRelativeResize="0"/>
          <p:nvPr/>
        </p:nvPicPr>
        <p:blipFill rotWithShape="1">
          <a:blip r:embed="rId4">
            <a:alphaModFix/>
          </a:blip>
          <a:srcRect b="0" l="0" r="0" t="0"/>
          <a:stretch/>
        </p:blipFill>
        <p:spPr>
          <a:xfrm>
            <a:off x="5018402" y="505538"/>
            <a:ext cx="3865534" cy="3670460"/>
          </a:xfrm>
          <a:prstGeom prst="rect">
            <a:avLst/>
          </a:prstGeom>
          <a:noFill/>
          <a:ln>
            <a:noFill/>
          </a:ln>
        </p:spPr>
      </p:pic>
      <p:sp>
        <p:nvSpPr>
          <p:cNvPr id="236" name="Google Shape;236;p17"/>
          <p:cNvSpPr txBox="1"/>
          <p:nvPr/>
        </p:nvSpPr>
        <p:spPr>
          <a:xfrm>
            <a:off x="708103" y="4330185"/>
            <a:ext cx="349962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49FEFC"/>
                </a:solidFill>
                <a:latin typeface="Arial"/>
                <a:ea typeface="Arial"/>
                <a:cs typeface="Arial"/>
                <a:sym typeface="Arial"/>
              </a:rPr>
              <a:t>Figure 04. KDE plot density for Flood</a:t>
            </a:r>
            <a:endParaRPr/>
          </a:p>
        </p:txBody>
      </p:sp>
      <p:sp>
        <p:nvSpPr>
          <p:cNvPr id="237" name="Google Shape;237;p17"/>
          <p:cNvSpPr txBox="1"/>
          <p:nvPr/>
        </p:nvSpPr>
        <p:spPr>
          <a:xfrm>
            <a:off x="5149317" y="4330184"/>
            <a:ext cx="360370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49FEFC"/>
                </a:solidFill>
                <a:latin typeface="Arial"/>
                <a:ea typeface="Arial"/>
                <a:cs typeface="Arial"/>
                <a:sym typeface="Arial"/>
              </a:rPr>
              <a:t>Figure 06. Hisplot for the Relative_Humidity</a:t>
            </a:r>
            <a:endParaRPr b="0" i="0" sz="1400" u="none" cap="none" strike="noStrike">
              <a:solidFill>
                <a:srgbClr val="49FEFC"/>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id="242" name="Google Shape;242;p18"/>
          <p:cNvPicPr preferRelativeResize="0"/>
          <p:nvPr/>
        </p:nvPicPr>
        <p:blipFill rotWithShape="1">
          <a:blip r:embed="rId3">
            <a:alphaModFix/>
          </a:blip>
          <a:srcRect b="0" l="0" r="0" t="0"/>
          <a:stretch/>
        </p:blipFill>
        <p:spPr>
          <a:xfrm>
            <a:off x="266388" y="684001"/>
            <a:ext cx="3866412" cy="3507140"/>
          </a:xfrm>
          <a:prstGeom prst="rect">
            <a:avLst/>
          </a:prstGeom>
          <a:noFill/>
          <a:ln>
            <a:noFill/>
          </a:ln>
        </p:spPr>
      </p:pic>
      <p:pic>
        <p:nvPicPr>
          <p:cNvPr id="243" name="Google Shape;243;p18"/>
          <p:cNvPicPr preferRelativeResize="0"/>
          <p:nvPr/>
        </p:nvPicPr>
        <p:blipFill rotWithShape="1">
          <a:blip r:embed="rId4">
            <a:alphaModFix/>
          </a:blip>
          <a:srcRect b="0" l="0" r="0" t="0"/>
          <a:stretch/>
        </p:blipFill>
        <p:spPr>
          <a:xfrm>
            <a:off x="4572000" y="684000"/>
            <a:ext cx="4248000" cy="3507139"/>
          </a:xfrm>
          <a:prstGeom prst="rect">
            <a:avLst/>
          </a:prstGeom>
          <a:noFill/>
          <a:ln>
            <a:noFill/>
          </a:ln>
        </p:spPr>
      </p:pic>
      <p:sp>
        <p:nvSpPr>
          <p:cNvPr id="244" name="Google Shape;244;p18"/>
          <p:cNvSpPr txBox="1"/>
          <p:nvPr/>
        </p:nvSpPr>
        <p:spPr>
          <a:xfrm>
            <a:off x="5431347" y="4305611"/>
            <a:ext cx="311792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49FEFC"/>
                </a:solidFill>
                <a:latin typeface="Share Tech"/>
                <a:ea typeface="Share Tech"/>
                <a:cs typeface="Share Tech"/>
                <a:sym typeface="Share Tech"/>
              </a:rPr>
              <a:t>Figure 08. Boxplot for  X_COR</a:t>
            </a:r>
            <a:endParaRPr/>
          </a:p>
        </p:txBody>
      </p:sp>
      <p:sp>
        <p:nvSpPr>
          <p:cNvPr id="245" name="Google Shape;245;p18"/>
          <p:cNvSpPr txBox="1"/>
          <p:nvPr/>
        </p:nvSpPr>
        <p:spPr>
          <a:xfrm>
            <a:off x="499946" y="4277115"/>
            <a:ext cx="415383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49FEFC"/>
                </a:solidFill>
                <a:latin typeface="Arial"/>
                <a:ea typeface="Arial"/>
                <a:cs typeface="Arial"/>
                <a:sym typeface="Arial"/>
              </a:rPr>
              <a:t>Figure 07. Hisplot for the Bright_Sunshine</a:t>
            </a:r>
            <a:endParaRPr b="0" i="0" sz="1400" u="none" cap="none" strike="noStrike">
              <a:solidFill>
                <a:srgbClr val="49FEFC"/>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id="250" name="Google Shape;250;p19"/>
          <p:cNvPicPr preferRelativeResize="0"/>
          <p:nvPr/>
        </p:nvPicPr>
        <p:blipFill rotWithShape="1">
          <a:blip r:embed="rId3">
            <a:alphaModFix/>
          </a:blip>
          <a:srcRect b="0" l="0" r="0" t="0"/>
          <a:stretch/>
        </p:blipFill>
        <p:spPr>
          <a:xfrm>
            <a:off x="411119" y="259200"/>
            <a:ext cx="8423281" cy="4161600"/>
          </a:xfrm>
          <a:prstGeom prst="rect">
            <a:avLst/>
          </a:prstGeom>
          <a:noFill/>
          <a:ln>
            <a:noFill/>
          </a:ln>
        </p:spPr>
      </p:pic>
      <p:sp>
        <p:nvSpPr>
          <p:cNvPr id="251" name="Google Shape;251;p19"/>
          <p:cNvSpPr txBox="1"/>
          <p:nvPr/>
        </p:nvSpPr>
        <p:spPr>
          <a:xfrm>
            <a:off x="2192400" y="4486512"/>
            <a:ext cx="46440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49FEFC"/>
                </a:solidFill>
                <a:latin typeface="Arial"/>
                <a:ea typeface="Arial"/>
                <a:cs typeface="Arial"/>
                <a:sym typeface="Arial"/>
              </a:rPr>
              <a:t>Figure 07. Correlation matrix for the project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0"/>
          <p:cNvSpPr/>
          <p:nvPr/>
        </p:nvSpPr>
        <p:spPr>
          <a:xfrm>
            <a:off x="1911300" y="3949406"/>
            <a:ext cx="4929555" cy="276999"/>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49FEFC"/>
              </a:buClr>
              <a:buSzPts val="1200"/>
              <a:buFont typeface="Arial"/>
              <a:buNone/>
            </a:pPr>
            <a:r>
              <a:rPr b="0" i="0" lang="en-US" sz="1200" u="none" cap="none" strike="noStrike">
                <a:solidFill>
                  <a:srgbClr val="49FEFC"/>
                </a:solidFill>
                <a:latin typeface="Arial"/>
                <a:ea typeface="Arial"/>
                <a:cs typeface="Arial"/>
                <a:sym typeface="Arial"/>
              </a:rPr>
              <a:t>Table 1: Accuracy, ROC, Recall of the models without hyperparameter</a:t>
            </a:r>
            <a:endParaRPr b="0" i="0" sz="1800" u="none" cap="none" strike="noStrike">
              <a:solidFill>
                <a:srgbClr val="49FEFC"/>
              </a:solidFill>
              <a:latin typeface="Arial"/>
              <a:ea typeface="Arial"/>
              <a:cs typeface="Arial"/>
              <a:sym typeface="Arial"/>
            </a:endParaRPr>
          </a:p>
        </p:txBody>
      </p:sp>
      <p:sp>
        <p:nvSpPr>
          <p:cNvPr id="257" name="Google Shape;257;p20"/>
          <p:cNvSpPr txBox="1"/>
          <p:nvPr/>
        </p:nvSpPr>
        <p:spPr>
          <a:xfrm>
            <a:off x="919490" y="693871"/>
            <a:ext cx="26230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49FEFC"/>
                </a:solidFill>
                <a:latin typeface="Times New Roman"/>
                <a:ea typeface="Times New Roman"/>
                <a:cs typeface="Times New Roman"/>
                <a:sym typeface="Times New Roman"/>
              </a:rPr>
              <a:t>Without Hyperparameter</a:t>
            </a:r>
            <a:endParaRPr b="0" i="0" sz="1400" u="none" cap="none" strike="noStrike">
              <a:solidFill>
                <a:srgbClr val="49FEFC"/>
              </a:solidFill>
              <a:latin typeface="Arial"/>
              <a:ea typeface="Arial"/>
              <a:cs typeface="Arial"/>
              <a:sym typeface="Arial"/>
            </a:endParaRPr>
          </a:p>
        </p:txBody>
      </p:sp>
      <p:graphicFrame>
        <p:nvGraphicFramePr>
          <p:cNvPr id="258" name="Google Shape;258;p20"/>
          <p:cNvGraphicFramePr/>
          <p:nvPr/>
        </p:nvGraphicFramePr>
        <p:xfrm>
          <a:off x="1039287" y="1108857"/>
          <a:ext cx="3000000" cy="3000000"/>
        </p:xfrm>
        <a:graphic>
          <a:graphicData uri="http://schemas.openxmlformats.org/drawingml/2006/table">
            <a:tbl>
              <a:tblPr bandRow="1" firstCol="1" firstRow="1">
                <a:noFill/>
                <a:tableStyleId>{64EA2FA2-64A1-4FA9-ADD6-495AD591BCB3}</a:tableStyleId>
              </a:tblPr>
              <a:tblGrid>
                <a:gridCol w="1765975"/>
                <a:gridCol w="1765975"/>
                <a:gridCol w="1766725"/>
                <a:gridCol w="1766725"/>
              </a:tblGrid>
              <a:tr h="453350">
                <a:tc>
                  <a:txBody>
                    <a:bodyPr/>
                    <a:lstStyle/>
                    <a:p>
                      <a:pPr indent="0" lvl="0" marL="0" marR="0" rtl="0" algn="just">
                        <a:lnSpc>
                          <a:spcPct val="150000"/>
                        </a:lnSpc>
                        <a:spcBef>
                          <a:spcPts val="0"/>
                        </a:spcBef>
                        <a:spcAft>
                          <a:spcPts val="0"/>
                        </a:spcAft>
                        <a:buNone/>
                      </a:pPr>
                      <a:r>
                        <a:rPr lang="en-US" sz="1200" u="none" cap="none" strike="noStrike">
                          <a:solidFill>
                            <a:srgbClr val="49FEFC"/>
                          </a:solidFill>
                        </a:rPr>
                        <a:t>Model</a:t>
                      </a:r>
                      <a:endParaRPr sz="1200" u="none" cap="none" strike="noStrike">
                        <a:solidFill>
                          <a:srgbClr val="49FEFC"/>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49FEFC"/>
                          </a:solidFill>
                        </a:rPr>
                        <a:t>Accuracy Score</a:t>
                      </a:r>
                      <a:endParaRPr sz="1200" u="none" cap="none" strike="noStrike">
                        <a:solidFill>
                          <a:srgbClr val="49FEFC"/>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49FEFC"/>
                          </a:solidFill>
                        </a:rPr>
                        <a:t>Recall Score</a:t>
                      </a:r>
                      <a:endParaRPr sz="1200" u="none" cap="none" strike="noStrike">
                        <a:solidFill>
                          <a:srgbClr val="49FEFC"/>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49FEFC"/>
                          </a:solidFill>
                        </a:rPr>
                        <a:t>ROC score</a:t>
                      </a:r>
                      <a:endParaRPr sz="1200" u="none" cap="none" strike="noStrike">
                        <a:solidFill>
                          <a:srgbClr val="49FEFC"/>
                        </a:solidFill>
                        <a:latin typeface="Times New Roman"/>
                        <a:ea typeface="Times New Roman"/>
                        <a:cs typeface="Times New Roman"/>
                        <a:sym typeface="Times New Roman"/>
                      </a:endParaRPr>
                    </a:p>
                  </a:txBody>
                  <a:tcPr marT="0" marB="0" marR="68575" marL="68575"/>
                </a:tc>
              </a:tr>
              <a:tr h="456000">
                <a:tc>
                  <a:txBody>
                    <a:bodyPr/>
                    <a:lstStyle/>
                    <a:p>
                      <a:pPr indent="0" lvl="0" marL="0" marR="0" rtl="0" algn="just">
                        <a:lnSpc>
                          <a:spcPct val="150000"/>
                        </a:lnSpc>
                        <a:spcBef>
                          <a:spcPts val="0"/>
                        </a:spcBef>
                        <a:spcAft>
                          <a:spcPts val="0"/>
                        </a:spcAft>
                        <a:buNone/>
                      </a:pPr>
                      <a:r>
                        <a:rPr lang="en-US" sz="1200" u="none" cap="none" strike="noStrike">
                          <a:solidFill>
                            <a:srgbClr val="49FEFC"/>
                          </a:solidFill>
                        </a:rPr>
                        <a:t>KNN</a:t>
                      </a:r>
                      <a:endParaRPr sz="1200" u="none" cap="none" strike="noStrike">
                        <a:solidFill>
                          <a:srgbClr val="49FEFC"/>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49FEFC"/>
                          </a:solidFill>
                        </a:rPr>
                        <a:t>94.139408</a:t>
                      </a:r>
                      <a:endParaRPr sz="1200" u="none" cap="none" strike="noStrike">
                        <a:solidFill>
                          <a:srgbClr val="49FEFC"/>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49FEFC"/>
                          </a:solidFill>
                        </a:rPr>
                        <a:t>84.549763</a:t>
                      </a:r>
                      <a:endParaRPr sz="1200" u="none" cap="none" strike="noStrike">
                        <a:solidFill>
                          <a:srgbClr val="49FEFC"/>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49FEFC"/>
                          </a:solidFill>
                        </a:rPr>
                        <a:t>90.584119</a:t>
                      </a:r>
                      <a:endParaRPr sz="1200" u="none" cap="none" strike="noStrike">
                        <a:solidFill>
                          <a:srgbClr val="49FEFC"/>
                        </a:solidFill>
                        <a:latin typeface="Times New Roman"/>
                        <a:ea typeface="Times New Roman"/>
                        <a:cs typeface="Times New Roman"/>
                        <a:sym typeface="Times New Roman"/>
                      </a:endParaRPr>
                    </a:p>
                  </a:txBody>
                  <a:tcPr marT="0" marB="0" marR="68575" marL="68575"/>
                </a:tc>
              </a:tr>
              <a:tr h="456000">
                <a:tc>
                  <a:txBody>
                    <a:bodyPr/>
                    <a:lstStyle/>
                    <a:p>
                      <a:pPr indent="0" lvl="0" marL="0" marR="0" rtl="0" algn="just">
                        <a:lnSpc>
                          <a:spcPct val="150000"/>
                        </a:lnSpc>
                        <a:spcBef>
                          <a:spcPts val="0"/>
                        </a:spcBef>
                        <a:spcAft>
                          <a:spcPts val="0"/>
                        </a:spcAft>
                        <a:buNone/>
                      </a:pPr>
                      <a:r>
                        <a:rPr lang="en-US" sz="1200" u="none" cap="none" strike="noStrike">
                          <a:solidFill>
                            <a:srgbClr val="49FEFC"/>
                          </a:solidFill>
                        </a:rPr>
                        <a:t>Logistic Regression</a:t>
                      </a:r>
                      <a:endParaRPr sz="1200" u="none" cap="none" strike="noStrike">
                        <a:solidFill>
                          <a:srgbClr val="49FEFC"/>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49FEFC"/>
                          </a:solidFill>
                        </a:rPr>
                        <a:t>94.450935</a:t>
                      </a:r>
                      <a:endParaRPr sz="1200" u="none" cap="none" strike="noStrike">
                        <a:solidFill>
                          <a:srgbClr val="49FEFC"/>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49FEFC"/>
                          </a:solidFill>
                        </a:rPr>
                        <a:t>84.644550</a:t>
                      </a:r>
                      <a:endParaRPr sz="1200" u="none" cap="none" strike="noStrike">
                        <a:solidFill>
                          <a:srgbClr val="49FEFC"/>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49FEFC"/>
                          </a:solidFill>
                        </a:rPr>
                        <a:t>90.815291</a:t>
                      </a:r>
                      <a:endParaRPr sz="1200" u="none" cap="none" strike="noStrike">
                        <a:solidFill>
                          <a:srgbClr val="49FEFC"/>
                        </a:solidFill>
                        <a:latin typeface="Times New Roman"/>
                        <a:ea typeface="Times New Roman"/>
                        <a:cs typeface="Times New Roman"/>
                        <a:sym typeface="Times New Roman"/>
                      </a:endParaRPr>
                    </a:p>
                  </a:txBody>
                  <a:tcPr marT="0" marB="0" marR="68575" marL="68575"/>
                </a:tc>
              </a:tr>
              <a:tr h="456000">
                <a:tc>
                  <a:txBody>
                    <a:bodyPr/>
                    <a:lstStyle/>
                    <a:p>
                      <a:pPr indent="0" lvl="0" marL="0" marR="0" rtl="0" algn="just">
                        <a:lnSpc>
                          <a:spcPct val="150000"/>
                        </a:lnSpc>
                        <a:spcBef>
                          <a:spcPts val="0"/>
                        </a:spcBef>
                        <a:spcAft>
                          <a:spcPts val="0"/>
                        </a:spcAft>
                        <a:buNone/>
                      </a:pPr>
                      <a:r>
                        <a:rPr lang="en-US" sz="1200" u="none" cap="none" strike="noStrike">
                          <a:solidFill>
                            <a:srgbClr val="49FEFC"/>
                          </a:solidFill>
                        </a:rPr>
                        <a:t>SVC</a:t>
                      </a:r>
                      <a:endParaRPr sz="1200" u="none" cap="none" strike="noStrike">
                        <a:solidFill>
                          <a:srgbClr val="49FEFC"/>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49FEFC"/>
                          </a:solidFill>
                        </a:rPr>
                        <a:t>94.373053</a:t>
                      </a:r>
                      <a:endParaRPr sz="1200" u="none" cap="none" strike="noStrike">
                        <a:solidFill>
                          <a:srgbClr val="49FEFC"/>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49FEFC"/>
                          </a:solidFill>
                        </a:rPr>
                        <a:t>83.507109</a:t>
                      </a:r>
                      <a:endParaRPr sz="1200" u="none" cap="none" strike="noStrike">
                        <a:solidFill>
                          <a:srgbClr val="49FEFC"/>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49FEFC"/>
                          </a:solidFill>
                        </a:rPr>
                        <a:t>90.344586</a:t>
                      </a:r>
                      <a:endParaRPr sz="1200" u="none" cap="none" strike="noStrike">
                        <a:solidFill>
                          <a:srgbClr val="49FEFC"/>
                        </a:solidFill>
                        <a:latin typeface="Times New Roman"/>
                        <a:ea typeface="Times New Roman"/>
                        <a:cs typeface="Times New Roman"/>
                        <a:sym typeface="Times New Roman"/>
                      </a:endParaRPr>
                    </a:p>
                  </a:txBody>
                  <a:tcPr marT="0" marB="0" marR="68575" marL="68575"/>
                </a:tc>
              </a:tr>
              <a:tr h="456000">
                <a:tc>
                  <a:txBody>
                    <a:bodyPr/>
                    <a:lstStyle/>
                    <a:p>
                      <a:pPr indent="0" lvl="0" marL="0" marR="0" rtl="0" algn="just">
                        <a:lnSpc>
                          <a:spcPct val="150000"/>
                        </a:lnSpc>
                        <a:spcBef>
                          <a:spcPts val="0"/>
                        </a:spcBef>
                        <a:spcAft>
                          <a:spcPts val="0"/>
                        </a:spcAft>
                        <a:buNone/>
                      </a:pPr>
                      <a:r>
                        <a:rPr lang="en-US" sz="1200" u="none" cap="none" strike="noStrike">
                          <a:solidFill>
                            <a:srgbClr val="49FEFC"/>
                          </a:solidFill>
                        </a:rPr>
                        <a:t>Random Forest</a:t>
                      </a:r>
                      <a:endParaRPr sz="1200" u="none" cap="none" strike="noStrike">
                        <a:solidFill>
                          <a:srgbClr val="49FEFC"/>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49FEFC"/>
                          </a:solidFill>
                        </a:rPr>
                        <a:t>95.035047</a:t>
                      </a:r>
                      <a:endParaRPr sz="1200" u="none" cap="none" strike="noStrike">
                        <a:solidFill>
                          <a:srgbClr val="49FEFC"/>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49FEFC"/>
                          </a:solidFill>
                        </a:rPr>
                        <a:t>84.644550</a:t>
                      </a:r>
                      <a:endParaRPr sz="1200" u="none" cap="none" strike="noStrike">
                        <a:solidFill>
                          <a:srgbClr val="49FEFC"/>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49FEFC"/>
                          </a:solidFill>
                        </a:rPr>
                        <a:t>91.182848</a:t>
                      </a:r>
                      <a:endParaRPr sz="1200" u="none" cap="none" strike="noStrike">
                        <a:solidFill>
                          <a:srgbClr val="49FEFC"/>
                        </a:solidFill>
                        <a:latin typeface="Times New Roman"/>
                        <a:ea typeface="Times New Roman"/>
                        <a:cs typeface="Times New Roman"/>
                        <a:sym typeface="Times New Roman"/>
                      </a:endParaRPr>
                    </a:p>
                  </a:txBody>
                  <a:tcPr marT="0" marB="0" marR="68575" marL="68575"/>
                </a:tc>
              </a:tr>
              <a:tr h="456000">
                <a:tc>
                  <a:txBody>
                    <a:bodyPr/>
                    <a:lstStyle/>
                    <a:p>
                      <a:pPr indent="0" lvl="0" marL="0" marR="0" rtl="0" algn="just">
                        <a:lnSpc>
                          <a:spcPct val="150000"/>
                        </a:lnSpc>
                        <a:spcBef>
                          <a:spcPts val="0"/>
                        </a:spcBef>
                        <a:spcAft>
                          <a:spcPts val="0"/>
                        </a:spcAft>
                        <a:buNone/>
                      </a:pPr>
                      <a:r>
                        <a:rPr lang="en-US" sz="1200" u="none" cap="none" strike="noStrike">
                          <a:solidFill>
                            <a:srgbClr val="49FEFC"/>
                          </a:solidFill>
                        </a:rPr>
                        <a:t>Decision Tree</a:t>
                      </a:r>
                      <a:endParaRPr sz="1200" u="none" cap="none" strike="noStrike">
                        <a:solidFill>
                          <a:srgbClr val="49FEFC"/>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49FEFC"/>
                          </a:solidFill>
                        </a:rPr>
                        <a:t>92.289720</a:t>
                      </a:r>
                      <a:endParaRPr sz="1200" u="none" cap="none" strike="noStrike">
                        <a:solidFill>
                          <a:srgbClr val="49FEFC"/>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49FEFC"/>
                          </a:solidFill>
                        </a:rPr>
                        <a:t>82.085308</a:t>
                      </a:r>
                      <a:endParaRPr sz="1200" u="none" cap="none" strike="noStrike">
                        <a:solidFill>
                          <a:srgbClr val="49FEFC"/>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49FEFC"/>
                          </a:solidFill>
                        </a:rPr>
                        <a:t>88.506511</a:t>
                      </a:r>
                      <a:endParaRPr sz="1200" u="none" cap="none" strike="noStrike">
                        <a:solidFill>
                          <a:srgbClr val="49FEFC"/>
                        </a:solidFill>
                        <a:latin typeface="Times New Roman"/>
                        <a:ea typeface="Times New Roman"/>
                        <a:cs typeface="Times New Roman"/>
                        <a:sym typeface="Times New Roman"/>
                      </a:endParaRPr>
                    </a:p>
                  </a:txBody>
                  <a:tcPr marT="0" marB="0" marR="68575" marL="6857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graphicFrame>
        <p:nvGraphicFramePr>
          <p:cNvPr id="263" name="Google Shape;263;p21"/>
          <p:cNvGraphicFramePr/>
          <p:nvPr/>
        </p:nvGraphicFramePr>
        <p:xfrm>
          <a:off x="985972" y="1128909"/>
          <a:ext cx="3000000" cy="3000000"/>
        </p:xfrm>
        <a:graphic>
          <a:graphicData uri="http://schemas.openxmlformats.org/drawingml/2006/table">
            <a:tbl>
              <a:tblPr bandRow="1" firstCol="1" firstRow="1">
                <a:noFill/>
                <a:tableStyleId>{64EA2FA2-64A1-4FA9-ADD6-495AD591BCB3}</a:tableStyleId>
              </a:tblPr>
              <a:tblGrid>
                <a:gridCol w="1729525"/>
                <a:gridCol w="1729525"/>
                <a:gridCol w="1730275"/>
                <a:gridCol w="1730275"/>
              </a:tblGrid>
              <a:tr h="453450">
                <a:tc>
                  <a:txBody>
                    <a:bodyPr/>
                    <a:lstStyle/>
                    <a:p>
                      <a:pPr indent="0" lvl="0" marL="0" marR="0" rtl="0" algn="just">
                        <a:lnSpc>
                          <a:spcPct val="150000"/>
                        </a:lnSpc>
                        <a:spcBef>
                          <a:spcPts val="0"/>
                        </a:spcBef>
                        <a:spcAft>
                          <a:spcPts val="0"/>
                        </a:spcAft>
                        <a:buNone/>
                      </a:pPr>
                      <a:r>
                        <a:rPr lang="en-US" sz="1200" u="none" cap="none" strike="noStrike">
                          <a:solidFill>
                            <a:srgbClr val="06FFFB"/>
                          </a:solidFill>
                        </a:rPr>
                        <a:t>Model</a:t>
                      </a:r>
                      <a:endParaRPr sz="1200" u="none" cap="none" strike="noStrike">
                        <a:solidFill>
                          <a:srgbClr val="06FFFB"/>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06FFFB"/>
                          </a:solidFill>
                        </a:rPr>
                        <a:t>Accuracy Score</a:t>
                      </a:r>
                      <a:endParaRPr sz="1200" u="none" cap="none" strike="noStrike">
                        <a:solidFill>
                          <a:srgbClr val="06FFFB"/>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06FFFB"/>
                          </a:solidFill>
                        </a:rPr>
                        <a:t>Recall Score</a:t>
                      </a:r>
                      <a:endParaRPr sz="1200" u="none" cap="none" strike="noStrike">
                        <a:solidFill>
                          <a:srgbClr val="06FFFB"/>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06FFFB"/>
                          </a:solidFill>
                        </a:rPr>
                        <a:t>ROC score</a:t>
                      </a:r>
                      <a:endParaRPr sz="1200" u="none" cap="none" strike="noStrike">
                        <a:solidFill>
                          <a:srgbClr val="06FFFB"/>
                        </a:solidFill>
                        <a:latin typeface="Times New Roman"/>
                        <a:ea typeface="Times New Roman"/>
                        <a:cs typeface="Times New Roman"/>
                        <a:sym typeface="Times New Roman"/>
                      </a:endParaRPr>
                    </a:p>
                  </a:txBody>
                  <a:tcPr marT="0" marB="0" marR="68575" marL="68575"/>
                </a:tc>
              </a:tr>
              <a:tr h="453450">
                <a:tc>
                  <a:txBody>
                    <a:bodyPr/>
                    <a:lstStyle/>
                    <a:p>
                      <a:pPr indent="0" lvl="0" marL="0" marR="0" rtl="0" algn="just">
                        <a:lnSpc>
                          <a:spcPct val="150000"/>
                        </a:lnSpc>
                        <a:spcBef>
                          <a:spcPts val="0"/>
                        </a:spcBef>
                        <a:spcAft>
                          <a:spcPts val="0"/>
                        </a:spcAft>
                        <a:buNone/>
                      </a:pPr>
                      <a:r>
                        <a:rPr lang="en-US" sz="1200" u="none" cap="none" strike="noStrike">
                          <a:solidFill>
                            <a:srgbClr val="06FFFB"/>
                          </a:solidFill>
                        </a:rPr>
                        <a:t>KNN</a:t>
                      </a:r>
                      <a:endParaRPr sz="1200" u="none" cap="none" strike="noStrike">
                        <a:solidFill>
                          <a:srgbClr val="06FFFB"/>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06FFFB"/>
                          </a:solidFill>
                        </a:rPr>
                        <a:t>94.470405</a:t>
                      </a:r>
                      <a:endParaRPr sz="1200" u="none" cap="none" strike="noStrike">
                        <a:solidFill>
                          <a:srgbClr val="06FFFB"/>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06FFFB"/>
                          </a:solidFill>
                        </a:rPr>
                        <a:t>83.412322</a:t>
                      </a:r>
                      <a:endParaRPr sz="1200" u="none" cap="none" strike="noStrike">
                        <a:solidFill>
                          <a:srgbClr val="06FFFB"/>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06FFFB"/>
                          </a:solidFill>
                        </a:rPr>
                        <a:t>90.37070</a:t>
                      </a:r>
                      <a:endParaRPr sz="1200" u="none" cap="none" strike="noStrike">
                        <a:solidFill>
                          <a:srgbClr val="06FFFB"/>
                        </a:solidFill>
                        <a:latin typeface="Times New Roman"/>
                        <a:ea typeface="Times New Roman"/>
                        <a:cs typeface="Times New Roman"/>
                        <a:sym typeface="Times New Roman"/>
                      </a:endParaRPr>
                    </a:p>
                  </a:txBody>
                  <a:tcPr marT="0" marB="0" marR="68575" marL="68575"/>
                </a:tc>
              </a:tr>
              <a:tr h="453450">
                <a:tc>
                  <a:txBody>
                    <a:bodyPr/>
                    <a:lstStyle/>
                    <a:p>
                      <a:pPr indent="0" lvl="0" marL="0" marR="0" rtl="0" algn="just">
                        <a:lnSpc>
                          <a:spcPct val="150000"/>
                        </a:lnSpc>
                        <a:spcBef>
                          <a:spcPts val="0"/>
                        </a:spcBef>
                        <a:spcAft>
                          <a:spcPts val="0"/>
                        </a:spcAft>
                        <a:buNone/>
                      </a:pPr>
                      <a:r>
                        <a:rPr lang="en-US" sz="1200" u="none" cap="none" strike="noStrike">
                          <a:solidFill>
                            <a:srgbClr val="06FFFB"/>
                          </a:solidFill>
                        </a:rPr>
                        <a:t>Logistic Regression</a:t>
                      </a:r>
                      <a:endParaRPr sz="1200" u="none" cap="none" strike="noStrike">
                        <a:solidFill>
                          <a:srgbClr val="06FFFB"/>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06FFFB"/>
                          </a:solidFill>
                        </a:rPr>
                        <a:t>94.489875</a:t>
                      </a:r>
                      <a:endParaRPr sz="1200" u="none" cap="none" strike="noStrike">
                        <a:solidFill>
                          <a:srgbClr val="06FFFB"/>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06FFFB"/>
                          </a:solidFill>
                        </a:rPr>
                        <a:t>84.549763</a:t>
                      </a:r>
                      <a:endParaRPr sz="1200" u="none" cap="none" strike="noStrike">
                        <a:solidFill>
                          <a:srgbClr val="06FFFB"/>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06FFFB"/>
                          </a:solidFill>
                        </a:rPr>
                        <a:t>90.804654</a:t>
                      </a:r>
                      <a:endParaRPr sz="1200" u="none" cap="none" strike="noStrike">
                        <a:solidFill>
                          <a:srgbClr val="06FFFB"/>
                        </a:solidFill>
                        <a:latin typeface="Times New Roman"/>
                        <a:ea typeface="Times New Roman"/>
                        <a:cs typeface="Times New Roman"/>
                        <a:sym typeface="Times New Roman"/>
                      </a:endParaRPr>
                    </a:p>
                  </a:txBody>
                  <a:tcPr marT="0" marB="0" marR="68575" marL="68575"/>
                </a:tc>
              </a:tr>
              <a:tr h="453450">
                <a:tc>
                  <a:txBody>
                    <a:bodyPr/>
                    <a:lstStyle/>
                    <a:p>
                      <a:pPr indent="0" lvl="0" marL="0" marR="0" rtl="0" algn="just">
                        <a:lnSpc>
                          <a:spcPct val="150000"/>
                        </a:lnSpc>
                        <a:spcBef>
                          <a:spcPts val="0"/>
                        </a:spcBef>
                        <a:spcAft>
                          <a:spcPts val="0"/>
                        </a:spcAft>
                        <a:buNone/>
                      </a:pPr>
                      <a:r>
                        <a:rPr lang="en-US" sz="1200" u="none" cap="none" strike="noStrike">
                          <a:solidFill>
                            <a:srgbClr val="06FFFB"/>
                          </a:solidFill>
                        </a:rPr>
                        <a:t>SVC</a:t>
                      </a:r>
                      <a:endParaRPr sz="1200" u="none" cap="none" strike="noStrike">
                        <a:solidFill>
                          <a:srgbClr val="06FFFB"/>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06FFFB"/>
                          </a:solidFill>
                        </a:rPr>
                        <a:t>94.548287</a:t>
                      </a:r>
                      <a:endParaRPr sz="1200" u="none" cap="none" strike="noStrike">
                        <a:solidFill>
                          <a:srgbClr val="06FFFB"/>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06FFFB"/>
                          </a:solidFill>
                        </a:rPr>
                        <a:t>82.748815</a:t>
                      </a:r>
                      <a:endParaRPr sz="1200" u="none" cap="none" strike="noStrike">
                        <a:solidFill>
                          <a:srgbClr val="06FFFB"/>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06FFFB"/>
                          </a:solidFill>
                        </a:rPr>
                        <a:t>90.173721</a:t>
                      </a:r>
                      <a:endParaRPr sz="1200" u="none" cap="none" strike="noStrike">
                        <a:solidFill>
                          <a:srgbClr val="06FFFB"/>
                        </a:solidFill>
                        <a:latin typeface="Times New Roman"/>
                        <a:ea typeface="Times New Roman"/>
                        <a:cs typeface="Times New Roman"/>
                        <a:sym typeface="Times New Roman"/>
                      </a:endParaRPr>
                    </a:p>
                  </a:txBody>
                  <a:tcPr marT="0" marB="0" marR="68575" marL="68575"/>
                </a:tc>
              </a:tr>
              <a:tr h="453450">
                <a:tc>
                  <a:txBody>
                    <a:bodyPr/>
                    <a:lstStyle/>
                    <a:p>
                      <a:pPr indent="0" lvl="0" marL="0" marR="0" rtl="0" algn="just">
                        <a:lnSpc>
                          <a:spcPct val="150000"/>
                        </a:lnSpc>
                        <a:spcBef>
                          <a:spcPts val="0"/>
                        </a:spcBef>
                        <a:spcAft>
                          <a:spcPts val="0"/>
                        </a:spcAft>
                        <a:buNone/>
                      </a:pPr>
                      <a:r>
                        <a:rPr lang="en-US" sz="1200" u="none" cap="none" strike="noStrike">
                          <a:solidFill>
                            <a:srgbClr val="06FFFB"/>
                          </a:solidFill>
                        </a:rPr>
                        <a:t>Random Forest</a:t>
                      </a:r>
                      <a:endParaRPr sz="1200" u="none" cap="none" strike="noStrike">
                        <a:solidFill>
                          <a:srgbClr val="06FFFB"/>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06FFFB"/>
                          </a:solidFill>
                        </a:rPr>
                        <a:t>95.229751</a:t>
                      </a:r>
                      <a:endParaRPr sz="1200" u="none" cap="none" strike="noStrike">
                        <a:solidFill>
                          <a:srgbClr val="06FFFB"/>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06FFFB"/>
                          </a:solidFill>
                        </a:rPr>
                        <a:t>95.229751</a:t>
                      </a:r>
                      <a:endParaRPr sz="1200" u="none" cap="none" strike="noStrike">
                        <a:solidFill>
                          <a:srgbClr val="06FFFB"/>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06FFFB"/>
                          </a:solidFill>
                        </a:rPr>
                        <a:t>91.65678</a:t>
                      </a:r>
                      <a:endParaRPr sz="1200" u="none" cap="none" strike="noStrike">
                        <a:solidFill>
                          <a:srgbClr val="06FFFB"/>
                        </a:solidFill>
                        <a:latin typeface="Times New Roman"/>
                        <a:ea typeface="Times New Roman"/>
                        <a:cs typeface="Times New Roman"/>
                        <a:sym typeface="Times New Roman"/>
                      </a:endParaRPr>
                    </a:p>
                  </a:txBody>
                  <a:tcPr marT="0" marB="0" marR="68575" marL="68575"/>
                </a:tc>
              </a:tr>
              <a:tr h="453450">
                <a:tc>
                  <a:txBody>
                    <a:bodyPr/>
                    <a:lstStyle/>
                    <a:p>
                      <a:pPr indent="0" lvl="0" marL="0" marR="0" rtl="0" algn="just">
                        <a:lnSpc>
                          <a:spcPct val="150000"/>
                        </a:lnSpc>
                        <a:spcBef>
                          <a:spcPts val="0"/>
                        </a:spcBef>
                        <a:spcAft>
                          <a:spcPts val="0"/>
                        </a:spcAft>
                        <a:buNone/>
                      </a:pPr>
                      <a:r>
                        <a:rPr lang="en-US" sz="1200" u="none" cap="none" strike="noStrike">
                          <a:solidFill>
                            <a:srgbClr val="06FFFB"/>
                          </a:solidFill>
                        </a:rPr>
                        <a:t>Decision Tree</a:t>
                      </a:r>
                      <a:endParaRPr sz="1200" u="none" cap="none" strike="noStrike">
                        <a:solidFill>
                          <a:srgbClr val="06FFFB"/>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06FFFB"/>
                          </a:solidFill>
                        </a:rPr>
                        <a:t>94.217290</a:t>
                      </a:r>
                      <a:endParaRPr sz="1200" u="none" cap="none" strike="noStrike">
                        <a:solidFill>
                          <a:srgbClr val="06FFFB"/>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06FFFB"/>
                          </a:solidFill>
                        </a:rPr>
                        <a:t>83.127962</a:t>
                      </a:r>
                      <a:endParaRPr sz="1200" u="none" cap="none" strike="noStrike">
                        <a:solidFill>
                          <a:srgbClr val="06FFFB"/>
                        </a:solidFill>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200" u="none" cap="none" strike="noStrike">
                          <a:solidFill>
                            <a:srgbClr val="06FFFB"/>
                          </a:solidFill>
                        </a:rPr>
                        <a:t>90.106005</a:t>
                      </a:r>
                      <a:endParaRPr sz="1200" u="none" cap="none" strike="noStrike">
                        <a:solidFill>
                          <a:srgbClr val="06FFFB"/>
                        </a:solidFill>
                        <a:latin typeface="Times New Roman"/>
                        <a:ea typeface="Times New Roman"/>
                        <a:cs typeface="Times New Roman"/>
                        <a:sym typeface="Times New Roman"/>
                      </a:endParaRPr>
                    </a:p>
                  </a:txBody>
                  <a:tcPr marT="0" marB="0" marR="68575" marL="68575"/>
                </a:tc>
              </a:tr>
            </a:tbl>
          </a:graphicData>
        </a:graphic>
      </p:graphicFrame>
      <p:sp>
        <p:nvSpPr>
          <p:cNvPr id="264" name="Google Shape;264;p21"/>
          <p:cNvSpPr/>
          <p:nvPr/>
        </p:nvSpPr>
        <p:spPr>
          <a:xfrm>
            <a:off x="1959368" y="4014591"/>
            <a:ext cx="4972836" cy="276999"/>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49FEFC"/>
              </a:buClr>
              <a:buSzPts val="1200"/>
              <a:buFont typeface="Arial"/>
              <a:buNone/>
            </a:pPr>
            <a:r>
              <a:rPr b="0" i="0" lang="en-US" sz="1200" u="none" cap="none" strike="noStrike">
                <a:solidFill>
                  <a:srgbClr val="49FEFC"/>
                </a:solidFill>
                <a:latin typeface="Arial"/>
                <a:ea typeface="Arial"/>
                <a:cs typeface="Arial"/>
                <a:sym typeface="Arial"/>
              </a:rPr>
              <a:t>Table 2: Accuracy, ROC, Recall of the models without hyperparameter</a:t>
            </a:r>
            <a:endParaRPr b="0" i="0" sz="1800" u="none" cap="none" strike="noStrike">
              <a:solidFill>
                <a:srgbClr val="49FEFC"/>
              </a:solidFill>
              <a:latin typeface="Arial"/>
              <a:ea typeface="Arial"/>
              <a:cs typeface="Arial"/>
              <a:sym typeface="Arial"/>
            </a:endParaRPr>
          </a:p>
        </p:txBody>
      </p:sp>
      <p:sp>
        <p:nvSpPr>
          <p:cNvPr id="265" name="Google Shape;265;p21"/>
          <p:cNvSpPr txBox="1"/>
          <p:nvPr/>
        </p:nvSpPr>
        <p:spPr>
          <a:xfrm>
            <a:off x="912175" y="715654"/>
            <a:ext cx="26230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49FEFC"/>
                </a:solidFill>
                <a:latin typeface="Times New Roman"/>
                <a:ea typeface="Times New Roman"/>
                <a:cs typeface="Times New Roman"/>
                <a:sym typeface="Times New Roman"/>
              </a:rPr>
              <a:t>With Hyperparameter</a:t>
            </a:r>
            <a:endParaRPr b="0" i="0" sz="1400" u="none" cap="none" strike="noStrike">
              <a:solidFill>
                <a:srgbClr val="49FEFC"/>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2"/>
          <p:cNvSpPr txBox="1"/>
          <p:nvPr/>
        </p:nvSpPr>
        <p:spPr>
          <a:xfrm>
            <a:off x="2977200" y="656112"/>
            <a:ext cx="45720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85FFFD"/>
                </a:solidFill>
                <a:latin typeface="Share Tech"/>
                <a:ea typeface="Share Tech"/>
                <a:cs typeface="Share Tech"/>
                <a:sym typeface="Share Tech"/>
              </a:rPr>
              <a:t>Future Improvement</a:t>
            </a:r>
            <a:endParaRPr/>
          </a:p>
        </p:txBody>
      </p:sp>
      <p:sp>
        <p:nvSpPr>
          <p:cNvPr id="271" name="Google Shape;271;p22"/>
          <p:cNvSpPr txBox="1"/>
          <p:nvPr/>
        </p:nvSpPr>
        <p:spPr>
          <a:xfrm>
            <a:off x="1699200" y="1476000"/>
            <a:ext cx="5122800" cy="153016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BEFFFE"/>
              </a:buClr>
              <a:buSzPts val="1600"/>
              <a:buFont typeface="Noto Sans Symbols"/>
              <a:buChar char="❑"/>
            </a:pPr>
            <a:r>
              <a:rPr b="1" i="0" lang="en-US" sz="1600" u="none" cap="none" strike="noStrike">
                <a:solidFill>
                  <a:srgbClr val="85FFFD"/>
                </a:solidFill>
                <a:latin typeface="Share Tech"/>
                <a:ea typeface="Share Tech"/>
                <a:cs typeface="Share Tech"/>
                <a:sym typeface="Share Tech"/>
              </a:rPr>
              <a:t>Integration of Remote Sensing Data</a:t>
            </a:r>
            <a:endParaRPr/>
          </a:p>
          <a:p>
            <a:pPr indent="-285750" lvl="0" marL="285750" marR="0" rtl="0" algn="l">
              <a:lnSpc>
                <a:spcPct val="150000"/>
              </a:lnSpc>
              <a:spcBef>
                <a:spcPts val="0"/>
              </a:spcBef>
              <a:spcAft>
                <a:spcPts val="0"/>
              </a:spcAft>
              <a:buClr>
                <a:srgbClr val="BEFFFE"/>
              </a:buClr>
              <a:buSzPts val="1600"/>
              <a:buFont typeface="Noto Sans Symbols"/>
              <a:buChar char="❑"/>
            </a:pPr>
            <a:r>
              <a:rPr b="1" i="0" lang="en-US" sz="1600" u="none" cap="none" strike="noStrike">
                <a:solidFill>
                  <a:srgbClr val="85FFFD"/>
                </a:solidFill>
                <a:latin typeface="Share Tech"/>
                <a:ea typeface="Share Tech"/>
                <a:cs typeface="Share Tech"/>
                <a:sym typeface="Share Tech"/>
              </a:rPr>
              <a:t>Utilization of Advanced Modeling Techniques</a:t>
            </a:r>
            <a:endParaRPr b="1" i="0" sz="1600" u="none" cap="none" strike="noStrike">
              <a:solidFill>
                <a:srgbClr val="85FFFD"/>
              </a:solidFill>
              <a:latin typeface="Share Tech"/>
              <a:ea typeface="Share Tech"/>
              <a:cs typeface="Share Tech"/>
              <a:sym typeface="Share Tech"/>
            </a:endParaRPr>
          </a:p>
          <a:p>
            <a:pPr indent="-285750" lvl="0" marL="285750" marR="0" rtl="0" algn="l">
              <a:lnSpc>
                <a:spcPct val="150000"/>
              </a:lnSpc>
              <a:spcBef>
                <a:spcPts val="0"/>
              </a:spcBef>
              <a:spcAft>
                <a:spcPts val="0"/>
              </a:spcAft>
              <a:buClr>
                <a:srgbClr val="BEFFFE"/>
              </a:buClr>
              <a:buSzPts val="1600"/>
              <a:buFont typeface="Noto Sans Symbols"/>
              <a:buChar char="❑"/>
            </a:pPr>
            <a:r>
              <a:rPr b="1" i="0" lang="en-US" sz="1600" u="none" cap="none" strike="noStrike">
                <a:solidFill>
                  <a:srgbClr val="85FFFD"/>
                </a:solidFill>
                <a:latin typeface="Share Tech"/>
                <a:ea typeface="Share Tech"/>
                <a:cs typeface="Share Tech"/>
                <a:sym typeface="Share Tech"/>
              </a:rPr>
              <a:t>Real-time Data Acquisition and Processing</a:t>
            </a:r>
            <a:endParaRPr/>
          </a:p>
          <a:p>
            <a:pPr indent="-285750" lvl="0" marL="285750" marR="0" rtl="0" algn="l">
              <a:lnSpc>
                <a:spcPct val="150000"/>
              </a:lnSpc>
              <a:spcBef>
                <a:spcPts val="0"/>
              </a:spcBef>
              <a:spcAft>
                <a:spcPts val="0"/>
              </a:spcAft>
              <a:buClr>
                <a:srgbClr val="BEFFFE"/>
              </a:buClr>
              <a:buSzPts val="1600"/>
              <a:buFont typeface="Noto Sans Symbols"/>
              <a:buChar char="❑"/>
            </a:pPr>
            <a:r>
              <a:rPr b="1" i="0" lang="en-US" sz="1600" u="none" cap="none" strike="noStrike">
                <a:solidFill>
                  <a:srgbClr val="85FFFD"/>
                </a:solidFill>
                <a:latin typeface="Share Tech"/>
                <a:ea typeface="Share Tech"/>
                <a:cs typeface="Share Tech"/>
                <a:sym typeface="Share Tech"/>
              </a:rPr>
              <a:t>Continuous Monitoring and Model Updating</a:t>
            </a:r>
            <a:endParaRPr b="0" i="0" sz="1200" u="none" cap="none" strike="noStrike">
              <a:solidFill>
                <a:srgbClr val="85FFFD"/>
              </a:solidFill>
              <a:latin typeface="Share Tech"/>
              <a:ea typeface="Share Tech"/>
              <a:cs typeface="Share Tech"/>
              <a:sym typeface="Share Tech"/>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3"/>
          <p:cNvSpPr txBox="1"/>
          <p:nvPr/>
        </p:nvSpPr>
        <p:spPr>
          <a:xfrm>
            <a:off x="3452663" y="280800"/>
            <a:ext cx="1513556" cy="587148"/>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i="0" lang="en-US" sz="2400" u="none" cap="none" strike="noStrike">
                <a:solidFill>
                  <a:srgbClr val="49FEFC"/>
                </a:solidFill>
                <a:latin typeface="Share Tech"/>
                <a:ea typeface="Share Tech"/>
                <a:cs typeface="Share Tech"/>
                <a:sym typeface="Share Tech"/>
              </a:rPr>
              <a:t>References</a:t>
            </a:r>
            <a:endParaRPr/>
          </a:p>
        </p:txBody>
      </p:sp>
      <p:sp>
        <p:nvSpPr>
          <p:cNvPr id="277" name="Google Shape;277;p23"/>
          <p:cNvSpPr txBox="1"/>
          <p:nvPr/>
        </p:nvSpPr>
        <p:spPr>
          <a:xfrm>
            <a:off x="399600" y="1057526"/>
            <a:ext cx="7117200" cy="3213829"/>
          </a:xfrm>
          <a:prstGeom prst="rect">
            <a:avLst/>
          </a:prstGeom>
          <a:noFill/>
          <a:ln>
            <a:noFill/>
          </a:ln>
        </p:spPr>
        <p:txBody>
          <a:bodyPr anchorCtr="0" anchor="t" bIns="45700" lIns="91425" spcFirstLastPara="1" rIns="91425" wrap="square" tIns="45700">
            <a:spAutoFit/>
          </a:bodyPr>
          <a:lstStyle/>
          <a:p>
            <a:pPr indent="-360045" lvl="0" marL="360045" marR="0" rtl="0" algn="l">
              <a:lnSpc>
                <a:spcPct val="150000"/>
              </a:lnSpc>
              <a:spcBef>
                <a:spcPts val="0"/>
              </a:spcBef>
              <a:spcAft>
                <a:spcPts val="0"/>
              </a:spcAft>
              <a:buNone/>
            </a:pPr>
            <a:r>
              <a:rPr b="0" i="0" lang="en-US" sz="1200" u="none" cap="none" strike="noStrike">
                <a:solidFill>
                  <a:srgbClr val="49FEFC"/>
                </a:solidFill>
                <a:latin typeface="Times New Roman"/>
                <a:ea typeface="Times New Roman"/>
                <a:cs typeface="Times New Roman"/>
                <a:sym typeface="Times New Roman"/>
              </a:rPr>
              <a:t>[1] N. Gauhar, S. Das, and K. S. Moury, “Prediction of flood in Bangladesh using K-nearest neighbors algorithm,” </a:t>
            </a:r>
            <a:r>
              <a:rPr b="0" i="1" lang="en-US" sz="1200" u="none" cap="none" strike="noStrike">
                <a:solidFill>
                  <a:srgbClr val="49FEFC"/>
                </a:solidFill>
                <a:latin typeface="Times New Roman"/>
                <a:ea typeface="Times New Roman"/>
                <a:cs typeface="Times New Roman"/>
                <a:sym typeface="Times New Roman"/>
              </a:rPr>
              <a:t>2021 2nd International Conference on Robotics, Electrical and Signal Processing Techniques (ICREST)</a:t>
            </a:r>
            <a:r>
              <a:rPr b="0" i="0" lang="en-US" sz="1200" u="none" cap="none" strike="noStrike">
                <a:solidFill>
                  <a:srgbClr val="49FEFC"/>
                </a:solidFill>
                <a:latin typeface="Times New Roman"/>
                <a:ea typeface="Times New Roman"/>
                <a:cs typeface="Times New Roman"/>
                <a:sym typeface="Times New Roman"/>
              </a:rPr>
              <a:t>, Jan. 2021. doi:10.1109/icrest51555.2021.9331199 </a:t>
            </a:r>
            <a:endParaRPr b="0" i="0" sz="1200" u="none" cap="none" strike="noStrike">
              <a:solidFill>
                <a:srgbClr val="49FEFC"/>
              </a:solidFill>
              <a:latin typeface="Times New Roman"/>
              <a:ea typeface="Times New Roman"/>
              <a:cs typeface="Times New Roman"/>
              <a:sym typeface="Times New Roman"/>
            </a:endParaRPr>
          </a:p>
          <a:p>
            <a:pPr indent="-360045" lvl="0" marL="360045" marR="0" rtl="0" algn="l">
              <a:lnSpc>
                <a:spcPct val="150000"/>
              </a:lnSpc>
              <a:spcBef>
                <a:spcPts val="1000"/>
              </a:spcBef>
              <a:spcAft>
                <a:spcPts val="0"/>
              </a:spcAft>
              <a:buNone/>
            </a:pPr>
            <a:r>
              <a:rPr b="0" i="0" lang="en-US" sz="1200" u="none" cap="none" strike="noStrike">
                <a:solidFill>
                  <a:srgbClr val="49FEFC"/>
                </a:solidFill>
                <a:latin typeface="Times New Roman"/>
                <a:ea typeface="Times New Roman"/>
                <a:cs typeface="Times New Roman"/>
                <a:sym typeface="Times New Roman"/>
              </a:rPr>
              <a:t>[2] A. Rajab </a:t>
            </a:r>
            <a:r>
              <a:rPr b="0" i="1" lang="en-US" sz="1200" u="none" cap="none" strike="noStrike">
                <a:solidFill>
                  <a:srgbClr val="49FEFC"/>
                </a:solidFill>
                <a:latin typeface="Times New Roman"/>
                <a:ea typeface="Times New Roman"/>
                <a:cs typeface="Times New Roman"/>
                <a:sym typeface="Times New Roman"/>
              </a:rPr>
              <a:t>et al.</a:t>
            </a:r>
            <a:r>
              <a:rPr b="0" i="0" lang="en-US" sz="1200" u="none" cap="none" strike="noStrike">
                <a:solidFill>
                  <a:srgbClr val="49FEFC"/>
                </a:solidFill>
                <a:latin typeface="Times New Roman"/>
                <a:ea typeface="Times New Roman"/>
                <a:cs typeface="Times New Roman"/>
                <a:sym typeface="Times New Roman"/>
              </a:rPr>
              <a:t>, “Flood forecasting by using Machine Learning: A Study Leveraging Historic Climatic Records of Bangladesh,” </a:t>
            </a:r>
            <a:r>
              <a:rPr b="0" i="1" lang="en-US" sz="1200" u="none" cap="none" strike="noStrike">
                <a:solidFill>
                  <a:srgbClr val="49FEFC"/>
                </a:solidFill>
                <a:latin typeface="Times New Roman"/>
                <a:ea typeface="Times New Roman"/>
                <a:cs typeface="Times New Roman"/>
                <a:sym typeface="Times New Roman"/>
              </a:rPr>
              <a:t>Water</a:t>
            </a:r>
            <a:r>
              <a:rPr b="0" i="0" lang="en-US" sz="1200" u="none" cap="none" strike="noStrike">
                <a:solidFill>
                  <a:srgbClr val="49FEFC"/>
                </a:solidFill>
                <a:latin typeface="Times New Roman"/>
                <a:ea typeface="Times New Roman"/>
                <a:cs typeface="Times New Roman"/>
                <a:sym typeface="Times New Roman"/>
              </a:rPr>
              <a:t>, vol. 15, no. 22, p. 3970, Nov. 2023. doi:10.3390/w15223970 </a:t>
            </a:r>
            <a:endParaRPr b="0" i="0" sz="1200" u="none" cap="none" strike="noStrike">
              <a:solidFill>
                <a:srgbClr val="49FEFC"/>
              </a:solidFill>
              <a:latin typeface="Times New Roman"/>
              <a:ea typeface="Times New Roman"/>
              <a:cs typeface="Times New Roman"/>
              <a:sym typeface="Times New Roman"/>
            </a:endParaRPr>
          </a:p>
          <a:p>
            <a:pPr indent="-360045" lvl="0" marL="360045" marR="0" rtl="0" algn="l">
              <a:lnSpc>
                <a:spcPct val="150000"/>
              </a:lnSpc>
              <a:spcBef>
                <a:spcPts val="1000"/>
              </a:spcBef>
              <a:spcAft>
                <a:spcPts val="0"/>
              </a:spcAft>
              <a:buNone/>
            </a:pPr>
            <a:r>
              <a:rPr b="0" i="0" lang="en-US" sz="1200" u="none" cap="none" strike="noStrike">
                <a:solidFill>
                  <a:srgbClr val="49FEFC"/>
                </a:solidFill>
                <a:latin typeface="Times New Roman"/>
                <a:ea typeface="Times New Roman"/>
                <a:cs typeface="Times New Roman"/>
                <a:sym typeface="Times New Roman"/>
              </a:rPr>
              <a:t>[3] A. K. Ambore, T. S. Charan, U. R. Reddy, T. S. Reddy, and Tarun. G, “Flood prediction using machine learning,” </a:t>
            </a:r>
            <a:r>
              <a:rPr b="0" i="1" lang="en-US" sz="1200" u="none" cap="none" strike="noStrike">
                <a:solidFill>
                  <a:srgbClr val="49FEFC"/>
                </a:solidFill>
                <a:latin typeface="Times New Roman"/>
                <a:ea typeface="Times New Roman"/>
                <a:cs typeface="Times New Roman"/>
                <a:sym typeface="Times New Roman"/>
              </a:rPr>
              <a:t>International Journal for Research in Applied Science and Engineering Technology</a:t>
            </a:r>
            <a:r>
              <a:rPr b="0" i="0" lang="en-US" sz="1200" u="none" cap="none" strike="noStrike">
                <a:solidFill>
                  <a:srgbClr val="49FEFC"/>
                </a:solidFill>
                <a:latin typeface="Times New Roman"/>
                <a:ea typeface="Times New Roman"/>
                <a:cs typeface="Times New Roman"/>
                <a:sym typeface="Times New Roman"/>
              </a:rPr>
              <a:t>, vol. 11, no. 5, pp. 363–367, May 2023. doi:10.22214/ijraset.2023.51528 </a:t>
            </a:r>
            <a:endParaRPr b="0" i="0" sz="1200" u="none" cap="none" strike="noStrike">
              <a:solidFill>
                <a:srgbClr val="49FEFC"/>
              </a:solidFill>
              <a:latin typeface="Times New Roman"/>
              <a:ea typeface="Times New Roman"/>
              <a:cs typeface="Times New Roman"/>
              <a:sym typeface="Times New Roman"/>
            </a:endParaRPr>
          </a:p>
          <a:p>
            <a:pPr indent="-360045" lvl="0" marL="360045" marR="0" rtl="0" algn="l">
              <a:lnSpc>
                <a:spcPct val="150000"/>
              </a:lnSpc>
              <a:spcBef>
                <a:spcPts val="1000"/>
              </a:spcBef>
              <a:spcAft>
                <a:spcPts val="0"/>
              </a:spcAft>
              <a:buNone/>
            </a:pPr>
            <a:r>
              <a:rPr b="0" i="0" lang="en-US" sz="1200" u="none" cap="none" strike="noStrike">
                <a:solidFill>
                  <a:srgbClr val="49FEFC"/>
                </a:solidFill>
                <a:latin typeface="Times New Roman"/>
                <a:ea typeface="Times New Roman"/>
                <a:cs typeface="Times New Roman"/>
                <a:sym typeface="Times New Roman"/>
              </a:rPr>
              <a:t>[4] K. Kunverji, K. Shah, and N. Shah, “A flood prediction system developed using various machine learning algorithms,” </a:t>
            </a:r>
            <a:r>
              <a:rPr b="0" i="1" lang="en-US" sz="1200" u="none" cap="none" strike="noStrike">
                <a:solidFill>
                  <a:srgbClr val="49FEFC"/>
                </a:solidFill>
                <a:latin typeface="Times New Roman"/>
                <a:ea typeface="Times New Roman"/>
                <a:cs typeface="Times New Roman"/>
                <a:sym typeface="Times New Roman"/>
              </a:rPr>
              <a:t>SSRN Electronic Journal</a:t>
            </a:r>
            <a:r>
              <a:rPr b="0" i="0" lang="en-US" sz="1200" u="none" cap="none" strike="noStrike">
                <a:solidFill>
                  <a:srgbClr val="49FEFC"/>
                </a:solidFill>
                <a:latin typeface="Times New Roman"/>
                <a:ea typeface="Times New Roman"/>
                <a:cs typeface="Times New Roman"/>
                <a:sym typeface="Times New Roman"/>
              </a:rPr>
              <a:t>, 2021. doi:10.2139/ssrn.3866524 </a:t>
            </a:r>
            <a:endParaRPr b="0" i="0" sz="1200" u="none" cap="none" strike="noStrike">
              <a:solidFill>
                <a:srgbClr val="49FEFC"/>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4"/>
          <p:cNvSpPr txBox="1"/>
          <p:nvPr/>
        </p:nvSpPr>
        <p:spPr>
          <a:xfrm>
            <a:off x="2318400" y="1771200"/>
            <a:ext cx="3967753"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7200" u="none" cap="none" strike="noStrike">
                <a:solidFill>
                  <a:srgbClr val="49FEFC"/>
                </a:solidFill>
                <a:latin typeface="Share Tech"/>
                <a:ea typeface="Share Tech"/>
                <a:cs typeface="Share Tech"/>
                <a:sym typeface="Share Tech"/>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ta Science Consulting by Slidesgo">
  <a:themeElements>
    <a:clrScheme name="Simple Light">
      <a:dk1>
        <a:srgbClr val="1A5E8F"/>
      </a:dk1>
      <a:lt1>
        <a:srgbClr val="FFFFFF"/>
      </a:lt1>
      <a:dk2>
        <a:srgbClr val="002845"/>
      </a:dk2>
      <a:lt2>
        <a:srgbClr val="FFD6E1"/>
      </a:lt2>
      <a:accent1>
        <a:srgbClr val="E898AC"/>
      </a:accent1>
      <a:accent2>
        <a:srgbClr val="00CFCC"/>
      </a:accent2>
      <a:accent3>
        <a:srgbClr val="FF9973"/>
      </a:accent3>
      <a:accent4>
        <a:srgbClr val="F64975"/>
      </a:accent4>
      <a:accent5>
        <a:srgbClr val="5EFFFD"/>
      </a:accent5>
      <a:accent6>
        <a:srgbClr val="FC723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